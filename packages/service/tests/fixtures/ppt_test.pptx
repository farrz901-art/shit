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2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2"/>
        <p:guide pos="291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10.png"/><Relationship Id="rId41" Type="http://schemas.openxmlformats.org/officeDocument/2006/relationships/slideLayout" Target="../slideLayouts/slideLayout7.xml"/><Relationship Id="rId40" Type="http://schemas.openxmlformats.org/officeDocument/2006/relationships/tags" Target="../tags/tag36.xml"/><Relationship Id="rId4" Type="http://schemas.openxmlformats.org/officeDocument/2006/relationships/tags" Target="../tags/tag4.xml"/><Relationship Id="rId39" Type="http://schemas.openxmlformats.org/officeDocument/2006/relationships/tags" Target="../tags/tag35.xml"/><Relationship Id="rId38" Type="http://schemas.openxmlformats.org/officeDocument/2006/relationships/tags" Target="../tags/tag34.xml"/><Relationship Id="rId37" Type="http://schemas.openxmlformats.org/officeDocument/2006/relationships/tags" Target="../tags/tag33.xml"/><Relationship Id="rId36" Type="http://schemas.openxmlformats.org/officeDocument/2006/relationships/tags" Target="../tags/tag32.xml"/><Relationship Id="rId35" Type="http://schemas.openxmlformats.org/officeDocument/2006/relationships/image" Target="../media/image13.png"/><Relationship Id="rId34" Type="http://schemas.openxmlformats.org/officeDocument/2006/relationships/tags" Target="../tags/tag31.xml"/><Relationship Id="rId33" Type="http://schemas.openxmlformats.org/officeDocument/2006/relationships/tags" Target="../tags/tag30.xml"/><Relationship Id="rId32" Type="http://schemas.openxmlformats.org/officeDocument/2006/relationships/tags" Target="../tags/tag29.xml"/><Relationship Id="rId31" Type="http://schemas.openxmlformats.org/officeDocument/2006/relationships/tags" Target="../tags/tag28.xml"/><Relationship Id="rId30" Type="http://schemas.openxmlformats.org/officeDocument/2006/relationships/tags" Target="../tags/tag27.xml"/><Relationship Id="rId3" Type="http://schemas.openxmlformats.org/officeDocument/2006/relationships/tags" Target="../tags/tag3.xml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image" Target="../media/image12.png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image" Target="../media/image11.png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image" Target="../media/image14.png"/><Relationship Id="rId41" Type="http://schemas.openxmlformats.org/officeDocument/2006/relationships/slideLayout" Target="../slideLayouts/slideLayout7.xml"/><Relationship Id="rId40" Type="http://schemas.openxmlformats.org/officeDocument/2006/relationships/tags" Target="../tags/tag72.xml"/><Relationship Id="rId4" Type="http://schemas.openxmlformats.org/officeDocument/2006/relationships/tags" Target="../tags/tag40.xml"/><Relationship Id="rId39" Type="http://schemas.openxmlformats.org/officeDocument/2006/relationships/tags" Target="../tags/tag71.xml"/><Relationship Id="rId38" Type="http://schemas.openxmlformats.org/officeDocument/2006/relationships/tags" Target="../tags/tag70.xml"/><Relationship Id="rId37" Type="http://schemas.openxmlformats.org/officeDocument/2006/relationships/tags" Target="../tags/tag69.xml"/><Relationship Id="rId36" Type="http://schemas.openxmlformats.org/officeDocument/2006/relationships/tags" Target="../tags/tag68.xml"/><Relationship Id="rId35" Type="http://schemas.openxmlformats.org/officeDocument/2006/relationships/image" Target="../media/image17.png"/><Relationship Id="rId34" Type="http://schemas.openxmlformats.org/officeDocument/2006/relationships/tags" Target="../tags/tag67.xml"/><Relationship Id="rId33" Type="http://schemas.openxmlformats.org/officeDocument/2006/relationships/tags" Target="../tags/tag66.xml"/><Relationship Id="rId32" Type="http://schemas.openxmlformats.org/officeDocument/2006/relationships/tags" Target="../tags/tag65.xml"/><Relationship Id="rId31" Type="http://schemas.openxmlformats.org/officeDocument/2006/relationships/tags" Target="../tags/tag64.xml"/><Relationship Id="rId30" Type="http://schemas.openxmlformats.org/officeDocument/2006/relationships/tags" Target="../tags/tag63.xml"/><Relationship Id="rId3" Type="http://schemas.openxmlformats.org/officeDocument/2006/relationships/tags" Target="../tags/tag39.xml"/><Relationship Id="rId29" Type="http://schemas.openxmlformats.org/officeDocument/2006/relationships/tags" Target="../tags/tag62.xml"/><Relationship Id="rId28" Type="http://schemas.openxmlformats.org/officeDocument/2006/relationships/tags" Target="../tags/tag61.xml"/><Relationship Id="rId27" Type="http://schemas.openxmlformats.org/officeDocument/2006/relationships/tags" Target="../tags/tag60.xml"/><Relationship Id="rId26" Type="http://schemas.openxmlformats.org/officeDocument/2006/relationships/tags" Target="../tags/tag59.xml"/><Relationship Id="rId25" Type="http://schemas.openxmlformats.org/officeDocument/2006/relationships/image" Target="../media/image16.png"/><Relationship Id="rId24" Type="http://schemas.openxmlformats.org/officeDocument/2006/relationships/tags" Target="../tags/tag58.xml"/><Relationship Id="rId23" Type="http://schemas.openxmlformats.org/officeDocument/2006/relationships/tags" Target="../tags/tag57.xml"/><Relationship Id="rId22" Type="http://schemas.openxmlformats.org/officeDocument/2006/relationships/tags" Target="../tags/tag56.xml"/><Relationship Id="rId21" Type="http://schemas.openxmlformats.org/officeDocument/2006/relationships/tags" Target="../tags/tag55.xml"/><Relationship Id="rId20" Type="http://schemas.openxmlformats.org/officeDocument/2006/relationships/tags" Target="../tags/tag54.xml"/><Relationship Id="rId2" Type="http://schemas.openxmlformats.org/officeDocument/2006/relationships/tags" Target="../tags/tag38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image" Target="../media/image15.png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image" Target="../media/image18.png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4" Type="http://schemas.openxmlformats.org/officeDocument/2006/relationships/slideLayout" Target="../slideLayouts/slideLayout7.xml"/><Relationship Id="rId43" Type="http://schemas.openxmlformats.org/officeDocument/2006/relationships/tags" Target="../tags/tag114.xml"/><Relationship Id="rId42" Type="http://schemas.openxmlformats.org/officeDocument/2006/relationships/tags" Target="../tags/tag113.xml"/><Relationship Id="rId41" Type="http://schemas.openxmlformats.org/officeDocument/2006/relationships/tags" Target="../tags/tag112.xml"/><Relationship Id="rId40" Type="http://schemas.openxmlformats.org/officeDocument/2006/relationships/tags" Target="../tags/tag111.xml"/><Relationship Id="rId4" Type="http://schemas.openxmlformats.org/officeDocument/2006/relationships/tags" Target="../tags/tag76.xml"/><Relationship Id="rId39" Type="http://schemas.openxmlformats.org/officeDocument/2006/relationships/tags" Target="../tags/tag110.xml"/><Relationship Id="rId38" Type="http://schemas.openxmlformats.org/officeDocument/2006/relationships/tags" Target="../tags/tag109.xml"/><Relationship Id="rId37" Type="http://schemas.openxmlformats.org/officeDocument/2006/relationships/tags" Target="../tags/tag108.xml"/><Relationship Id="rId36" Type="http://schemas.openxmlformats.org/officeDocument/2006/relationships/tags" Target="../tags/tag107.xml"/><Relationship Id="rId35" Type="http://schemas.openxmlformats.org/officeDocument/2006/relationships/tags" Target="../tags/tag106.xml"/><Relationship Id="rId34" Type="http://schemas.openxmlformats.org/officeDocument/2006/relationships/tags" Target="../tags/tag105.xml"/><Relationship Id="rId33" Type="http://schemas.openxmlformats.org/officeDocument/2006/relationships/tags" Target="../tags/tag104.xml"/><Relationship Id="rId32" Type="http://schemas.openxmlformats.org/officeDocument/2006/relationships/tags" Target="../tags/tag103.xml"/><Relationship Id="rId31" Type="http://schemas.openxmlformats.org/officeDocument/2006/relationships/tags" Target="../tags/tag102.xml"/><Relationship Id="rId30" Type="http://schemas.openxmlformats.org/officeDocument/2006/relationships/tags" Target="../tags/tag101.xml"/><Relationship Id="rId3" Type="http://schemas.openxmlformats.org/officeDocument/2006/relationships/tags" Target="../tags/tag75.xml"/><Relationship Id="rId29" Type="http://schemas.openxmlformats.org/officeDocument/2006/relationships/tags" Target="../tags/tag100.xml"/><Relationship Id="rId28" Type="http://schemas.openxmlformats.org/officeDocument/2006/relationships/tags" Target="../tags/tag99.xml"/><Relationship Id="rId27" Type="http://schemas.openxmlformats.org/officeDocument/2006/relationships/tags" Target="../tags/tag98.xml"/><Relationship Id="rId26" Type="http://schemas.openxmlformats.org/officeDocument/2006/relationships/tags" Target="../tags/tag97.xml"/><Relationship Id="rId25" Type="http://schemas.openxmlformats.org/officeDocument/2006/relationships/tags" Target="../tags/tag96.xml"/><Relationship Id="rId24" Type="http://schemas.openxmlformats.org/officeDocument/2006/relationships/tags" Target="../tags/tag95.xml"/><Relationship Id="rId23" Type="http://schemas.openxmlformats.org/officeDocument/2006/relationships/tags" Target="../tags/tag94.xml"/><Relationship Id="rId22" Type="http://schemas.openxmlformats.org/officeDocument/2006/relationships/tags" Target="../tags/tag93.xml"/><Relationship Id="rId21" Type="http://schemas.openxmlformats.org/officeDocument/2006/relationships/tags" Target="../tags/tag92.xml"/><Relationship Id="rId20" Type="http://schemas.openxmlformats.org/officeDocument/2006/relationships/tags" Target="../tags/tag91.xml"/><Relationship Id="rId2" Type="http://schemas.openxmlformats.org/officeDocument/2006/relationships/tags" Target="../tags/tag74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image" Target="../media/image19.png"/><Relationship Id="rId4" Type="http://schemas.openxmlformats.org/officeDocument/2006/relationships/tags" Target="../tags/tag118.xml"/><Relationship Id="rId35" Type="http://schemas.openxmlformats.org/officeDocument/2006/relationships/slideLayout" Target="../slideLayouts/slideLayout7.xml"/><Relationship Id="rId34" Type="http://schemas.openxmlformats.org/officeDocument/2006/relationships/image" Target="../media/image24.jpeg"/><Relationship Id="rId33" Type="http://schemas.openxmlformats.org/officeDocument/2006/relationships/image" Target="../media/image23.png"/><Relationship Id="rId32" Type="http://schemas.openxmlformats.org/officeDocument/2006/relationships/tags" Target="../tags/tag142.xml"/><Relationship Id="rId31" Type="http://schemas.openxmlformats.org/officeDocument/2006/relationships/tags" Target="../tags/tag141.xml"/><Relationship Id="rId30" Type="http://schemas.openxmlformats.org/officeDocument/2006/relationships/tags" Target="../tags/tag140.xml"/><Relationship Id="rId3" Type="http://schemas.openxmlformats.org/officeDocument/2006/relationships/tags" Target="../tags/tag117.xml"/><Relationship Id="rId29" Type="http://schemas.openxmlformats.org/officeDocument/2006/relationships/image" Target="../media/image22.png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image" Target="../media/image21.png"/><Relationship Id="rId20" Type="http://schemas.openxmlformats.org/officeDocument/2006/relationships/tags" Target="../tags/tag132.xml"/><Relationship Id="rId2" Type="http://schemas.openxmlformats.org/officeDocument/2006/relationships/tags" Target="../tags/tag116.xml"/><Relationship Id="rId19" Type="http://schemas.openxmlformats.org/officeDocument/2006/relationships/tags" Target="../tags/tag131.xml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image" Target="../media/image20.png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tags" Target="../tags/tag11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4.pn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36.png"/><Relationship Id="rId1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image" Target="../media/image56.png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60.png"/><Relationship Id="rId21" Type="http://schemas.openxmlformats.org/officeDocument/2006/relationships/image" Target="../media/image59.png"/><Relationship Id="rId20" Type="http://schemas.openxmlformats.org/officeDocument/2006/relationships/tags" Target="../tags/tag157.xml"/><Relationship Id="rId2" Type="http://schemas.openxmlformats.org/officeDocument/2006/relationships/image" Target="../media/image55.png"/><Relationship Id="rId19" Type="http://schemas.openxmlformats.org/officeDocument/2006/relationships/tags" Target="../tags/tag156.xml"/><Relationship Id="rId18" Type="http://schemas.openxmlformats.org/officeDocument/2006/relationships/image" Target="../media/image58.png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image" Target="../media/image57.png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EFF6FF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05192" y="2095499"/>
            <a:ext cx="3581310" cy="761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040"/>
              </a:spcAft>
            </a:pPr>
            <a:r>
              <a:rPr sz="3825" b="1">
                <a:solidFill>
                  <a:srgbClr val="133EFF"/>
                </a:solidFill>
              </a:rPr>
              <a:t>RAG准确度评估与优化方案</a:t>
            </a:r>
            <a:endParaRPr sz="3825" b="1">
              <a:solidFill>
                <a:srgbClr val="133E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262" y="3009900"/>
            <a:ext cx="1219169" cy="38100"/>
          </a:xfrm>
          <a:prstGeom prst="rect">
            <a:avLst/>
          </a:prstGeom>
          <a:gradFill rotWithShape="1">
            <a:gsLst>
              <a:gs pos="0">
                <a:srgbClr val="133EFF"/>
              </a:gs>
              <a:gs pos="100000">
                <a:srgbClr val="00CD8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05192" y="3352800"/>
            <a:ext cx="358131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33333"/>
                </a:solidFill>
              </a:rPr>
              <a:t>提升企业知识管理的核心竞争力</a:t>
            </a:r>
            <a:endParaRPr sz="1315" b="0">
              <a:solidFill>
                <a:srgbClr val="333333"/>
              </a:solidFill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05212" y="4480248"/>
            <a:ext cx="285742" cy="2216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05252" y="4467224"/>
            <a:ext cx="24764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33333"/>
                </a:solidFill>
              </a:rPr>
              <a:t>多维评估</a:t>
            </a:r>
            <a:endParaRPr sz="1075" b="0">
              <a:solidFill>
                <a:srgbClr val="33333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57688" y="4438649"/>
            <a:ext cx="9524" cy="3048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72005" y="4490454"/>
            <a:ext cx="285742" cy="2011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045" y="4467224"/>
            <a:ext cx="24764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33333"/>
                </a:solidFill>
              </a:rPr>
              <a:t>持续优化</a:t>
            </a:r>
            <a:endParaRPr sz="1075" b="0">
              <a:solidFill>
                <a:srgbClr val="33333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24481" y="4438649"/>
            <a:ext cx="9524" cy="3048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038799" y="4462754"/>
            <a:ext cx="285742" cy="2565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38839" y="4467224"/>
            <a:ext cx="24764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33333"/>
                </a:solidFill>
              </a:rPr>
              <a:t>精准答案</a:t>
            </a:r>
            <a:endParaRPr sz="1075" b="0">
              <a:solidFill>
                <a:srgbClr val="33333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38499" y="6200775"/>
            <a:ext cx="4105172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B7280"/>
                </a:solidFill>
              </a:rPr>
              <a:t>Retrieval-Augmented Generation · Accuracy Evaluation &amp; Optimization</a:t>
            </a:r>
            <a:endParaRPr sz="835" b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27621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目录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2245" y="257174"/>
            <a:ext cx="97152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CONTENTS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809625"/>
            <a:ext cx="4876678" cy="6048375"/>
          </a:xfrm>
          <a:prstGeom prst="rect">
            <a:avLst/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866853" y="3003273"/>
            <a:ext cx="1142971" cy="832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5842" y="4286250"/>
            <a:ext cx="229546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156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四大核心模块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5842" y="4619625"/>
            <a:ext cx="2295467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520"/>
              </a:spcBef>
              <a:spcAft>
                <a:spcPts val="0"/>
              </a:spcAft>
            </a:pPr>
            <a:r>
              <a:rPr sz="835" b="0">
                <a:solidFill>
                  <a:srgbClr val="9CA3AF"/>
                </a:solidFill>
              </a:rPr>
              <a:t>Comprehensive Evaluation Framework</a:t>
            </a:r>
            <a:endParaRPr sz="835" b="0">
              <a:solidFill>
                <a:srgbClr val="9CA3AF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38659" y="1752599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91055" y="1866899"/>
            <a:ext cx="295267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FFFFFF"/>
                </a:solidFill>
              </a:rPr>
              <a:t>01</a:t>
            </a:r>
            <a:endParaRPr sz="1675" b="1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6838" y="1828800"/>
            <a:ext cx="495287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RAG准确度评估标准与指标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76838" y="2286000"/>
            <a:ext cx="495287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Retrieval &amp; Generation Quality Metrics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38659" y="2895600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1055" y="2990849"/>
            <a:ext cx="295267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FFFFFF"/>
                </a:solidFill>
              </a:rPr>
              <a:t>02</a:t>
            </a:r>
            <a:endParaRPr sz="1675" b="1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76838" y="2971800"/>
            <a:ext cx="495287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测试方法与流程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76838" y="3409950"/>
            <a:ext cx="495287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Evaluation Methodologies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38659" y="4019549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1055" y="4133849"/>
            <a:ext cx="295267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FFFFFF"/>
                </a:solidFill>
              </a:rPr>
              <a:t>03</a:t>
            </a:r>
            <a:endParaRPr sz="1675" b="1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76838" y="4095749"/>
            <a:ext cx="495287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测试平台与工具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76838" y="4552949"/>
            <a:ext cx="495287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Evaluation Platforms &amp; Tools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38659" y="5162550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1055" y="5257800"/>
            <a:ext cx="295267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FFFFFF"/>
                </a:solidFill>
              </a:rPr>
              <a:t>04</a:t>
            </a:r>
            <a:endParaRPr sz="1675" b="1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76838" y="5238749"/>
            <a:ext cx="495287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提升RAG准确度的方式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76838" y="5676900"/>
            <a:ext cx="495287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Optimization Strategies</a:t>
            </a:r>
            <a:endParaRPr sz="955" b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83817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检索质量指标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70461" y="247649"/>
            <a:ext cx="203829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Retrieval Quality Metrics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188" y="1447800"/>
            <a:ext cx="3962300" cy="4762500"/>
          </a:xfrm>
          <a:prstGeom prst="round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3866" y="1657350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467213" y="1819689"/>
            <a:ext cx="266693" cy="2087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57748" y="1657350"/>
            <a:ext cx="295267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133EFF"/>
                </a:solidFill>
              </a:rPr>
              <a:t>准确率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7838" y="1724024"/>
            <a:ext cx="92390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Precision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57748" y="2171700"/>
            <a:ext cx="537196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衡量检索结果的准确性，检索到的文档中有用的比例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57748" y="2714625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1095" y="2628900"/>
            <a:ext cx="79055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Top-K相关性文档占比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33866" y="3238500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467213" y="3393591"/>
            <a:ext cx="266693" cy="2232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57748" y="3238500"/>
            <a:ext cx="295267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133EFF"/>
                </a:solidFill>
              </a:rPr>
              <a:t>召回率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7838" y="3305174"/>
            <a:ext cx="61910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Recall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57748" y="3752849"/>
            <a:ext cx="537196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衡量检索的覆盖度，系统没有遗漏重要的相关文档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057748" y="42862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1095" y="4200525"/>
            <a:ext cx="66673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相关文档被成功检索的比例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33866" y="4810124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467213" y="4968115"/>
            <a:ext cx="266693" cy="21741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57748" y="4810124"/>
            <a:ext cx="50481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133EFF"/>
                </a:solidFill>
              </a:rPr>
              <a:t>F1分数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62608" y="4886325"/>
            <a:ext cx="81912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F1 Score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57748" y="5324474"/>
            <a:ext cx="537196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准确率和召回率的调和平均数，综合评价检索性能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057748" y="58673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1095" y="5781674"/>
            <a:ext cx="324794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F1 = 2 × (Precision × Recall) / (Precision + Recall)</a:t>
            </a:r>
            <a:endParaRPr sz="955" b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83817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生成质量指标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33631" y="285749"/>
            <a:ext cx="223831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Generation Quality Metrics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61980" y="1714500"/>
            <a:ext cx="5181470" cy="197167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>
            <p:custDataLst>
              <p:tags r:id="rId2"/>
            </p:custDataLst>
          </p:nvPr>
        </p:nvSpPr>
        <p:spPr>
          <a:xfrm rot="16200000">
            <a:off x="-157817" y="2634297"/>
            <a:ext cx="1971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3"/>
            </p:custDataLst>
          </p:nvPr>
        </p:nvSpPr>
        <p:spPr>
          <a:xfrm>
            <a:off x="1104872" y="2019299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57268" y="2180492"/>
            <a:ext cx="304792" cy="287215"/>
          </a:xfrm>
          <a:prstGeom prst="rect">
            <a:avLst/>
          </a:prstGeom>
        </p:spPr>
      </p:pic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904952" y="2019299"/>
            <a:ext cx="295267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133EFF"/>
                </a:solidFill>
              </a:rPr>
              <a:t>忠实度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2733617" y="2128520"/>
            <a:ext cx="123821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Faithfulness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1904952" y="2495550"/>
            <a:ext cx="373370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答案是否严格基于提供的上下文，无编造或矛盾信息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12" name="Rounded Rectangle 11"/>
          <p:cNvSpPr/>
          <p:nvPr>
            <p:custDataLst>
              <p:tags r:id="rId9"/>
            </p:custDataLst>
          </p:nvPr>
        </p:nvSpPr>
        <p:spPr>
          <a:xfrm>
            <a:off x="1104872" y="32385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1238219" y="3143250"/>
            <a:ext cx="99057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衡量模型"幻觉"程度的关键指标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14" name="Rounded Rectangle 13"/>
          <p:cNvSpPr/>
          <p:nvPr>
            <p:custDataLst>
              <p:tags r:id="rId11"/>
            </p:custDataLst>
          </p:nvPr>
        </p:nvSpPr>
        <p:spPr>
          <a:xfrm>
            <a:off x="6248243" y="1714500"/>
            <a:ext cx="5181470" cy="197167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>
            <p:custDataLst>
              <p:tags r:id="rId12"/>
            </p:custDataLst>
          </p:nvPr>
        </p:nvSpPr>
        <p:spPr>
          <a:xfrm rot="16200000">
            <a:off x="5328446" y="2634297"/>
            <a:ext cx="1971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13"/>
            </p:custDataLst>
          </p:nvPr>
        </p:nvSpPr>
        <p:spPr>
          <a:xfrm>
            <a:off x="6591135" y="2019299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743531" y="2195146"/>
            <a:ext cx="304792" cy="257907"/>
          </a:xfrm>
          <a:prstGeom prst="rect">
            <a:avLst/>
          </a:prstGeom>
        </p:spPr>
      </p:pic>
      <p:sp>
        <p:nvSpPr>
          <p:cNvPr id="18" name="TextBox 17"/>
          <p:cNvSpPr txBox="1"/>
          <p:nvPr>
            <p:custDataLst>
              <p:tags r:id="rId16"/>
            </p:custDataLst>
          </p:nvPr>
        </p:nvSpPr>
        <p:spPr>
          <a:xfrm>
            <a:off x="7391215" y="2019299"/>
            <a:ext cx="48576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133EFF"/>
                </a:solidFill>
              </a:rPr>
              <a:t>答案相关性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19" name="TextBox 18"/>
          <p:cNvSpPr txBox="1"/>
          <p:nvPr>
            <p:custDataLst>
              <p:tags r:id="rId17"/>
            </p:custDataLst>
          </p:nvPr>
        </p:nvSpPr>
        <p:spPr>
          <a:xfrm>
            <a:off x="8887895" y="2128520"/>
            <a:ext cx="164778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Answer Relevance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20" name="TextBox 19"/>
          <p:cNvSpPr txBox="1"/>
          <p:nvPr>
            <p:custDataLst>
              <p:tags r:id="rId18"/>
            </p:custDataLst>
          </p:nvPr>
        </p:nvSpPr>
        <p:spPr>
          <a:xfrm>
            <a:off x="7391215" y="2495550"/>
            <a:ext cx="373370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答案是否正面且完整地回答了用户的问题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21" name="Rounded Rectangle 20"/>
          <p:cNvSpPr/>
          <p:nvPr>
            <p:custDataLst>
              <p:tags r:id="rId19"/>
            </p:custDataLst>
          </p:nvPr>
        </p:nvSpPr>
        <p:spPr>
          <a:xfrm>
            <a:off x="6591135" y="32385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20"/>
            </p:custDataLst>
          </p:nvPr>
        </p:nvSpPr>
        <p:spPr>
          <a:xfrm>
            <a:off x="6724481" y="3143250"/>
            <a:ext cx="83817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避免答非所问，评估语义匹配程度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23" name="Rounded Rectangle 22"/>
          <p:cNvSpPr/>
          <p:nvPr>
            <p:custDataLst>
              <p:tags r:id="rId21"/>
            </p:custDataLst>
          </p:nvPr>
        </p:nvSpPr>
        <p:spPr>
          <a:xfrm>
            <a:off x="761980" y="3981449"/>
            <a:ext cx="5181470" cy="197167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>
            <p:custDataLst>
              <p:tags r:id="rId22"/>
            </p:custDataLst>
          </p:nvPr>
        </p:nvSpPr>
        <p:spPr>
          <a:xfrm rot="16200000">
            <a:off x="-157817" y="4901246"/>
            <a:ext cx="1971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23"/>
            </p:custDataLst>
          </p:nvPr>
        </p:nvSpPr>
        <p:spPr>
          <a:xfrm>
            <a:off x="1104872" y="4286250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alphaModFix amt="100000"/>
          </a:blip>
          <a:stretch>
            <a:fillRect/>
          </a:stretch>
        </p:blipFill>
        <p:spPr>
          <a:xfrm>
            <a:off x="1257268" y="4473819"/>
            <a:ext cx="304792" cy="234461"/>
          </a:xfrm>
          <a:prstGeom prst="rect">
            <a:avLst/>
          </a:prstGeom>
        </p:spPr>
      </p:pic>
      <p:sp>
        <p:nvSpPr>
          <p:cNvPr id="27" name="TextBox 26"/>
          <p:cNvSpPr txBox="1"/>
          <p:nvPr>
            <p:custDataLst>
              <p:tags r:id="rId26"/>
            </p:custDataLst>
          </p:nvPr>
        </p:nvSpPr>
        <p:spPr>
          <a:xfrm>
            <a:off x="1904952" y="4286250"/>
            <a:ext cx="581010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133EFF"/>
                </a:solidFill>
              </a:rPr>
              <a:t>上下文覆盖率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28" name="TextBox 27"/>
          <p:cNvSpPr txBox="1"/>
          <p:nvPr>
            <p:custDataLst>
              <p:tags r:id="rId27"/>
            </p:custDataLst>
          </p:nvPr>
        </p:nvSpPr>
        <p:spPr>
          <a:xfrm>
            <a:off x="3253039" y="4362450"/>
            <a:ext cx="164778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Context Coverage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29" name="TextBox 28"/>
          <p:cNvSpPr txBox="1"/>
          <p:nvPr>
            <p:custDataLst>
              <p:tags r:id="rId28"/>
            </p:custDataLst>
          </p:nvPr>
        </p:nvSpPr>
        <p:spPr>
          <a:xfrm>
            <a:off x="1904952" y="4762500"/>
            <a:ext cx="373370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生成答案对检索到的上下文信息的利用程度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30" name="Rounded Rectangle 29"/>
          <p:cNvSpPr/>
          <p:nvPr>
            <p:custDataLst>
              <p:tags r:id="rId29"/>
            </p:custDataLst>
          </p:nvPr>
        </p:nvSpPr>
        <p:spPr>
          <a:xfrm>
            <a:off x="1104872" y="55054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>
            <p:custDataLst>
              <p:tags r:id="rId30"/>
            </p:custDataLst>
          </p:nvPr>
        </p:nvSpPr>
        <p:spPr>
          <a:xfrm>
            <a:off x="1238219" y="5419725"/>
            <a:ext cx="78103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高覆盖率说明有效利用检索信息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32" name="Rounded Rectangle 31"/>
          <p:cNvSpPr/>
          <p:nvPr>
            <p:custDataLst>
              <p:tags r:id="rId31"/>
            </p:custDataLst>
          </p:nvPr>
        </p:nvSpPr>
        <p:spPr>
          <a:xfrm>
            <a:off x="6248243" y="3981449"/>
            <a:ext cx="5181470" cy="197167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>
            <p:custDataLst>
              <p:tags r:id="rId32"/>
            </p:custDataLst>
          </p:nvPr>
        </p:nvSpPr>
        <p:spPr>
          <a:xfrm rot="16200000">
            <a:off x="5328446" y="4901246"/>
            <a:ext cx="1971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>
            <p:custDataLst>
              <p:tags r:id="rId33"/>
            </p:custDataLst>
          </p:nvPr>
        </p:nvSpPr>
        <p:spPr>
          <a:xfrm>
            <a:off x="6591135" y="4286250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alphaModFix amt="100000"/>
          </a:blip>
          <a:stretch>
            <a:fillRect/>
          </a:stretch>
        </p:blipFill>
        <p:spPr>
          <a:xfrm>
            <a:off x="6743531" y="4454769"/>
            <a:ext cx="304792" cy="272561"/>
          </a:xfrm>
          <a:prstGeom prst="rect">
            <a:avLst/>
          </a:prstGeom>
        </p:spPr>
      </p:pic>
      <p:sp>
        <p:nvSpPr>
          <p:cNvPr id="36" name="TextBox 35"/>
          <p:cNvSpPr txBox="1"/>
          <p:nvPr>
            <p:custDataLst>
              <p:tags r:id="rId36"/>
            </p:custDataLst>
          </p:nvPr>
        </p:nvSpPr>
        <p:spPr>
          <a:xfrm>
            <a:off x="7391215" y="4286250"/>
            <a:ext cx="68578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133EFF"/>
                </a:solidFill>
              </a:rPr>
              <a:t>连贯性与流畅度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37" name="TextBox 36"/>
          <p:cNvSpPr txBox="1"/>
          <p:nvPr>
            <p:custDataLst>
              <p:tags r:id="rId37"/>
            </p:custDataLst>
          </p:nvPr>
        </p:nvSpPr>
        <p:spPr>
          <a:xfrm>
            <a:off x="8977425" y="4362450"/>
            <a:ext cx="92390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Coherence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38" name="TextBox 37"/>
          <p:cNvSpPr txBox="1"/>
          <p:nvPr>
            <p:custDataLst>
              <p:tags r:id="rId38"/>
            </p:custDataLst>
          </p:nvPr>
        </p:nvSpPr>
        <p:spPr>
          <a:xfrm>
            <a:off x="7391215" y="4762500"/>
            <a:ext cx="373370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答案语言表达是否连贯、自然，无语法错误或生硬重复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39" name="Rounded Rectangle 38"/>
          <p:cNvSpPr/>
          <p:nvPr>
            <p:custDataLst>
              <p:tags r:id="rId39"/>
            </p:custDataLst>
          </p:nvPr>
        </p:nvSpPr>
        <p:spPr>
          <a:xfrm>
            <a:off x="6591135" y="55054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>
            <p:custDataLst>
              <p:tags r:id="rId40"/>
            </p:custDataLst>
          </p:nvPr>
        </p:nvSpPr>
        <p:spPr>
          <a:xfrm>
            <a:off x="6724481" y="5419725"/>
            <a:ext cx="78103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通过语言模型困惑度等指标衡量</a:t>
            </a:r>
            <a:endParaRPr sz="955" b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1247743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用户体验与系统指标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62120" y="247649"/>
            <a:ext cx="287647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User Experience &amp; System Metrics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61980" y="1714500"/>
            <a:ext cx="5181470" cy="197167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>
            <p:custDataLst>
              <p:tags r:id="rId2"/>
            </p:custDataLst>
          </p:nvPr>
        </p:nvSpPr>
        <p:spPr>
          <a:xfrm rot="16200000">
            <a:off x="-157817" y="2634297"/>
            <a:ext cx="1971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3"/>
            </p:custDataLst>
          </p:nvPr>
        </p:nvSpPr>
        <p:spPr>
          <a:xfrm>
            <a:off x="1104872" y="2019299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57268" y="2195146"/>
            <a:ext cx="304792" cy="257907"/>
          </a:xfrm>
          <a:prstGeom prst="rect">
            <a:avLst/>
          </a:prstGeom>
        </p:spPr>
      </p:pic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904952" y="2019299"/>
            <a:ext cx="48576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133EFF"/>
                </a:solidFill>
              </a:rPr>
              <a:t>用户满意度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2505012" y="2085975"/>
            <a:ext cx="175255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User Satisfaction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1904952" y="2495550"/>
            <a:ext cx="373370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通过用户评分、NPS等衡量对模型答案的满意程度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12" name="Rounded Rectangle 11"/>
          <p:cNvSpPr/>
          <p:nvPr>
            <p:custDataLst>
              <p:tags r:id="rId9"/>
            </p:custDataLst>
          </p:nvPr>
        </p:nvSpPr>
        <p:spPr>
          <a:xfrm>
            <a:off x="1104872" y="32385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1238219" y="3143250"/>
            <a:ext cx="89532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反映模型准确性和实用性的综合评价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14" name="Rounded Rectangle 13"/>
          <p:cNvSpPr/>
          <p:nvPr>
            <p:custDataLst>
              <p:tags r:id="rId11"/>
            </p:custDataLst>
          </p:nvPr>
        </p:nvSpPr>
        <p:spPr>
          <a:xfrm>
            <a:off x="6248243" y="1714500"/>
            <a:ext cx="5181470" cy="197167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>
            <p:custDataLst>
              <p:tags r:id="rId12"/>
            </p:custDataLst>
          </p:nvPr>
        </p:nvSpPr>
        <p:spPr>
          <a:xfrm rot="16200000">
            <a:off x="5328446" y="2634297"/>
            <a:ext cx="1971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13"/>
            </p:custDataLst>
          </p:nvPr>
        </p:nvSpPr>
        <p:spPr>
          <a:xfrm>
            <a:off x="6591135" y="2019299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743531" y="2217126"/>
            <a:ext cx="304792" cy="213946"/>
          </a:xfrm>
          <a:prstGeom prst="rect">
            <a:avLst/>
          </a:prstGeom>
        </p:spPr>
      </p:pic>
      <p:sp>
        <p:nvSpPr>
          <p:cNvPr id="18" name="TextBox 17"/>
          <p:cNvSpPr txBox="1"/>
          <p:nvPr>
            <p:custDataLst>
              <p:tags r:id="rId16"/>
            </p:custDataLst>
          </p:nvPr>
        </p:nvSpPr>
        <p:spPr>
          <a:xfrm>
            <a:off x="7391215" y="2019299"/>
            <a:ext cx="390515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133EFF"/>
                </a:solidFill>
              </a:rPr>
              <a:t>响应时间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19" name="TextBox 18"/>
          <p:cNvSpPr txBox="1"/>
          <p:nvPr>
            <p:custDataLst>
              <p:tags r:id="rId17"/>
            </p:custDataLst>
          </p:nvPr>
        </p:nvSpPr>
        <p:spPr>
          <a:xfrm>
            <a:off x="7896027" y="2085975"/>
            <a:ext cx="133346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Response Time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20" name="TextBox 19"/>
          <p:cNvSpPr txBox="1"/>
          <p:nvPr>
            <p:custDataLst>
              <p:tags r:id="rId18"/>
            </p:custDataLst>
          </p:nvPr>
        </p:nvSpPr>
        <p:spPr>
          <a:xfrm>
            <a:off x="7391215" y="2495550"/>
            <a:ext cx="373370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模型生成答案所需的时间，包括检索和生成的耗时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21" name="Rounded Rectangle 20"/>
          <p:cNvSpPr/>
          <p:nvPr>
            <p:custDataLst>
              <p:tags r:id="rId19"/>
            </p:custDataLst>
          </p:nvPr>
        </p:nvSpPr>
        <p:spPr>
          <a:xfrm>
            <a:off x="6591135" y="32385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20"/>
            </p:custDataLst>
          </p:nvPr>
        </p:nvSpPr>
        <p:spPr>
          <a:xfrm>
            <a:off x="6724481" y="3143250"/>
            <a:ext cx="137156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实时应用关键指标，要求端到端延迟1-2秒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23" name="Rounded Rectangle 22"/>
          <p:cNvSpPr/>
          <p:nvPr>
            <p:custDataLst>
              <p:tags r:id="rId21"/>
            </p:custDataLst>
          </p:nvPr>
        </p:nvSpPr>
        <p:spPr>
          <a:xfrm>
            <a:off x="761980" y="3981449"/>
            <a:ext cx="5181470" cy="197167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>
            <p:custDataLst>
              <p:tags r:id="rId22"/>
            </p:custDataLst>
          </p:nvPr>
        </p:nvSpPr>
        <p:spPr>
          <a:xfrm rot="16200000">
            <a:off x="-157817" y="4901246"/>
            <a:ext cx="1971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23"/>
            </p:custDataLst>
          </p:nvPr>
        </p:nvSpPr>
        <p:spPr>
          <a:xfrm>
            <a:off x="1104872" y="4286250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alphaModFix amt="100000"/>
          </a:blip>
          <a:stretch>
            <a:fillRect/>
          </a:stretch>
        </p:blipFill>
        <p:spPr>
          <a:xfrm>
            <a:off x="1257268" y="4473819"/>
            <a:ext cx="304792" cy="234461"/>
          </a:xfrm>
          <a:prstGeom prst="rect">
            <a:avLst/>
          </a:prstGeom>
        </p:spPr>
      </p:pic>
      <p:sp>
        <p:nvSpPr>
          <p:cNvPr id="27" name="TextBox 26"/>
          <p:cNvSpPr txBox="1"/>
          <p:nvPr>
            <p:custDataLst>
              <p:tags r:id="rId26"/>
            </p:custDataLst>
          </p:nvPr>
        </p:nvSpPr>
        <p:spPr>
          <a:xfrm>
            <a:off x="1904952" y="4286250"/>
            <a:ext cx="390515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133EFF"/>
                </a:solidFill>
              </a:rPr>
              <a:t>资源消耗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28" name="TextBox 27"/>
          <p:cNvSpPr txBox="1"/>
          <p:nvPr>
            <p:custDataLst>
              <p:tags r:id="rId27"/>
            </p:custDataLst>
          </p:nvPr>
        </p:nvSpPr>
        <p:spPr>
          <a:xfrm>
            <a:off x="2409764" y="4362450"/>
            <a:ext cx="205734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Resource Consumption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29" name="TextBox 28"/>
          <p:cNvSpPr txBox="1"/>
          <p:nvPr>
            <p:custDataLst>
              <p:tags r:id="rId28"/>
            </p:custDataLst>
          </p:nvPr>
        </p:nvSpPr>
        <p:spPr>
          <a:xfrm>
            <a:off x="1905000" y="4762500"/>
            <a:ext cx="3733800" cy="6724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包括计算资源（CPU/GPU使用率）、内存占用、</a:t>
            </a:r>
            <a:endParaRPr sz="1315" b="0">
              <a:solidFill>
                <a:srgbClr val="374151"/>
              </a:solidFill>
            </a:endParaRPr>
          </a:p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网络带宽等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30" name="Rounded Rectangle 29"/>
          <p:cNvSpPr/>
          <p:nvPr>
            <p:custDataLst>
              <p:tags r:id="rId29"/>
            </p:custDataLst>
          </p:nvPr>
        </p:nvSpPr>
        <p:spPr>
          <a:xfrm>
            <a:off x="1104872" y="55054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>
            <p:custDataLst>
              <p:tags r:id="rId30"/>
            </p:custDataLst>
          </p:nvPr>
        </p:nvSpPr>
        <p:spPr>
          <a:xfrm>
            <a:off x="1238219" y="5419725"/>
            <a:ext cx="89532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支持高并发和低成本部署的关键因素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32" name="Rounded Rectangle 31"/>
          <p:cNvSpPr/>
          <p:nvPr>
            <p:custDataLst>
              <p:tags r:id="rId31"/>
            </p:custDataLst>
          </p:nvPr>
        </p:nvSpPr>
        <p:spPr>
          <a:xfrm>
            <a:off x="6248243" y="3981449"/>
            <a:ext cx="5181470" cy="197167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>
            <p:custDataLst>
              <p:tags r:id="rId32"/>
            </p:custDataLst>
          </p:nvPr>
        </p:nvSpPr>
        <p:spPr>
          <a:xfrm rot="16200000">
            <a:off x="5328446" y="4901246"/>
            <a:ext cx="1971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>
            <p:custDataLst>
              <p:tags r:id="rId33"/>
            </p:custDataLst>
          </p:nvPr>
        </p:nvSpPr>
        <p:spPr>
          <a:xfrm>
            <a:off x="6591135" y="4286250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alphaModFix amt="100000"/>
          </a:blip>
          <a:stretch>
            <a:fillRect/>
          </a:stretch>
        </p:blipFill>
        <p:spPr>
          <a:xfrm>
            <a:off x="6743531" y="4456234"/>
            <a:ext cx="304792" cy="269630"/>
          </a:xfrm>
          <a:prstGeom prst="rect">
            <a:avLst/>
          </a:prstGeom>
        </p:spPr>
      </p:pic>
      <p:sp>
        <p:nvSpPr>
          <p:cNvPr id="36" name="TextBox 35"/>
          <p:cNvSpPr txBox="1"/>
          <p:nvPr>
            <p:custDataLst>
              <p:tags r:id="rId36"/>
            </p:custDataLst>
          </p:nvPr>
        </p:nvSpPr>
        <p:spPr>
          <a:xfrm>
            <a:off x="7391215" y="4286250"/>
            <a:ext cx="581010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133EFF"/>
                </a:solidFill>
              </a:rPr>
              <a:t>安全性与合规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37" name="TextBox 36"/>
          <p:cNvSpPr txBox="1"/>
          <p:nvPr>
            <p:custDataLst>
              <p:tags r:id="rId37"/>
            </p:custDataLst>
          </p:nvPr>
        </p:nvSpPr>
        <p:spPr>
          <a:xfrm>
            <a:off x="8086522" y="4362450"/>
            <a:ext cx="216212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Security &amp; Compliance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38" name="TextBox 37"/>
          <p:cNvSpPr txBox="1"/>
          <p:nvPr>
            <p:custDataLst>
              <p:tags r:id="rId38"/>
            </p:custDataLst>
          </p:nvPr>
        </p:nvSpPr>
        <p:spPr>
          <a:xfrm>
            <a:off x="7391400" y="4762500"/>
            <a:ext cx="3733800" cy="5029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评估模型是否会产生有害、敏感或偏见内容，符</a:t>
            </a:r>
            <a:endParaRPr sz="1315" b="0">
              <a:solidFill>
                <a:srgbClr val="374151"/>
              </a:solidFill>
            </a:endParaRPr>
          </a:p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合法规要求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39" name="Rounded Rectangle 38"/>
          <p:cNvSpPr/>
          <p:nvPr>
            <p:custDataLst>
              <p:tags r:id="rId39"/>
            </p:custDataLst>
          </p:nvPr>
        </p:nvSpPr>
        <p:spPr>
          <a:xfrm>
            <a:off x="6591135" y="55054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>
            <p:custDataLst>
              <p:tags r:id="rId40"/>
            </p:custDataLst>
          </p:nvPr>
        </p:nvSpPr>
        <p:spPr>
          <a:xfrm>
            <a:off x="6724481" y="5419725"/>
            <a:ext cx="16477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需专门测试集和人工审查，符合GDPR、HIPAA</a:t>
            </a:r>
            <a:endParaRPr sz="955" b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55243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离线评估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98028" y="247649"/>
            <a:ext cx="146681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Offline Evaluation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61980" y="1981199"/>
            <a:ext cx="3400339" cy="174307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2"/>
            </p:custDataLst>
          </p:nvPr>
        </p:nvSpPr>
        <p:spPr>
          <a:xfrm>
            <a:off x="990575" y="2247899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95347" y="2305049"/>
            <a:ext cx="323841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FFFFFF"/>
                </a:solidFill>
              </a:rPr>
              <a:t>01</a:t>
            </a:r>
            <a:endParaRPr sz="1675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676358" y="2247899"/>
            <a:ext cx="225736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构建测试集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1676400" y="2686050"/>
            <a:ext cx="2257425" cy="629285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准备代表性查询及标准答案，</a:t>
            </a:r>
            <a:endParaRPr sz="1195" b="0">
              <a:solidFill>
                <a:srgbClr val="374151"/>
              </a:solidFill>
            </a:endParaRPr>
          </a:p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覆盖不同主题和难度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90575" y="3306711"/>
            <a:ext cx="171445" cy="149327"/>
          </a:xfrm>
          <a:prstGeom prst="rect">
            <a:avLst/>
          </a:prstGeom>
        </p:spPr>
      </p:pic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1200119" y="3276599"/>
            <a:ext cx="67625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5" b="0">
                <a:solidFill>
                  <a:srgbClr val="6B7280"/>
                </a:solidFill>
              </a:rPr>
              <a:t>人工编写标准答案确保准确性</a:t>
            </a:r>
            <a:endParaRPr sz="895" b="0">
              <a:solidFill>
                <a:srgbClr val="6B7280"/>
              </a:solidFill>
            </a:endParaRPr>
          </a:p>
        </p:txBody>
      </p:sp>
      <p:sp>
        <p:nvSpPr>
          <p:cNvPr id="12" name="Rounded Rectangle 11"/>
          <p:cNvSpPr/>
          <p:nvPr>
            <p:custDataLst>
              <p:tags r:id="rId9"/>
            </p:custDataLst>
          </p:nvPr>
        </p:nvSpPr>
        <p:spPr>
          <a:xfrm>
            <a:off x="4390915" y="1981199"/>
            <a:ext cx="3400339" cy="174307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10"/>
            </p:custDataLst>
          </p:nvPr>
        </p:nvSpPr>
        <p:spPr>
          <a:xfrm>
            <a:off x="4619509" y="2247899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4733806" y="2305049"/>
            <a:ext cx="323841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FFFFFF"/>
                </a:solidFill>
              </a:rPr>
              <a:t>02</a:t>
            </a:r>
            <a:endParaRPr sz="1675" b="1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5305292" y="2247899"/>
            <a:ext cx="225736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运行模型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5305425" y="2686050"/>
            <a:ext cx="2257425" cy="589915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输入测试集问题，获取模型生</a:t>
            </a:r>
            <a:endParaRPr sz="1195" b="0">
              <a:solidFill>
                <a:srgbClr val="374151"/>
              </a:solidFill>
            </a:endParaRPr>
          </a:p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成答案及检索上下文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19509" y="3306711"/>
            <a:ext cx="171445" cy="149327"/>
          </a:xfrm>
          <a:prstGeom prst="rect">
            <a:avLst/>
          </a:prstGeom>
        </p:spPr>
      </p:pic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4829054" y="3276599"/>
            <a:ext cx="52386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5" b="0">
                <a:solidFill>
                  <a:srgbClr val="6B7280"/>
                </a:solidFill>
              </a:rPr>
              <a:t>保存所有输出以备评估</a:t>
            </a:r>
            <a:endParaRPr sz="895" b="0">
              <a:solidFill>
                <a:srgbClr val="6B7280"/>
              </a:solidFill>
            </a:endParaRPr>
          </a:p>
        </p:txBody>
      </p:sp>
      <p:sp>
        <p:nvSpPr>
          <p:cNvPr id="19" name="Rounded Rectangle 18"/>
          <p:cNvSpPr/>
          <p:nvPr>
            <p:custDataLst>
              <p:tags r:id="rId16"/>
            </p:custDataLst>
          </p:nvPr>
        </p:nvSpPr>
        <p:spPr>
          <a:xfrm>
            <a:off x="8029374" y="1981199"/>
            <a:ext cx="3400339" cy="174307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17"/>
            </p:custDataLst>
          </p:nvPr>
        </p:nvSpPr>
        <p:spPr>
          <a:xfrm>
            <a:off x="8257968" y="2247899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8"/>
            </p:custDataLst>
          </p:nvPr>
        </p:nvSpPr>
        <p:spPr>
          <a:xfrm>
            <a:off x="8362740" y="2305049"/>
            <a:ext cx="323841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FFFFFF"/>
                </a:solidFill>
              </a:rPr>
              <a:t>03</a:t>
            </a:r>
            <a:endParaRPr sz="1675" b="1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>
            <p:custDataLst>
              <p:tags r:id="rId19"/>
            </p:custDataLst>
          </p:nvPr>
        </p:nvSpPr>
        <p:spPr>
          <a:xfrm>
            <a:off x="8943751" y="2247899"/>
            <a:ext cx="225736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人工评估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23" name="TextBox 22"/>
          <p:cNvSpPr txBox="1"/>
          <p:nvPr>
            <p:custDataLst>
              <p:tags r:id="rId20"/>
            </p:custDataLst>
          </p:nvPr>
        </p:nvSpPr>
        <p:spPr>
          <a:xfrm>
            <a:off x="8943975" y="2686050"/>
            <a:ext cx="2257425" cy="5905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评估人员对模型输出进行人工</a:t>
            </a:r>
            <a:endParaRPr sz="1195" b="0">
              <a:solidFill>
                <a:srgbClr val="374151"/>
              </a:solidFill>
            </a:endParaRPr>
          </a:p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打分和判断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57968" y="3306711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>
            <p:custDataLst>
              <p:tags r:id="rId22"/>
            </p:custDataLst>
          </p:nvPr>
        </p:nvSpPr>
        <p:spPr>
          <a:xfrm>
            <a:off x="8467513" y="3276599"/>
            <a:ext cx="628634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5" b="0">
                <a:solidFill>
                  <a:srgbClr val="6B7280"/>
                </a:solidFill>
              </a:rPr>
              <a:t>检查忠实度、相关性等指标</a:t>
            </a:r>
            <a:endParaRPr sz="895" b="0">
              <a:solidFill>
                <a:srgbClr val="6B7280"/>
              </a:solidFill>
            </a:endParaRPr>
          </a:p>
        </p:txBody>
      </p:sp>
      <p:sp>
        <p:nvSpPr>
          <p:cNvPr id="26" name="Rounded Rectangle 25"/>
          <p:cNvSpPr/>
          <p:nvPr>
            <p:custDataLst>
              <p:tags r:id="rId23"/>
            </p:custDataLst>
          </p:nvPr>
        </p:nvSpPr>
        <p:spPr>
          <a:xfrm>
            <a:off x="761980" y="3943350"/>
            <a:ext cx="3400339" cy="174307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>
            <p:custDataLst>
              <p:tags r:id="rId24"/>
            </p:custDataLst>
          </p:nvPr>
        </p:nvSpPr>
        <p:spPr>
          <a:xfrm>
            <a:off x="990575" y="4210049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25"/>
            </p:custDataLst>
          </p:nvPr>
        </p:nvSpPr>
        <p:spPr>
          <a:xfrm>
            <a:off x="1095347" y="4286250"/>
            <a:ext cx="323841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FFFFFF"/>
                </a:solidFill>
              </a:rPr>
              <a:t>04</a:t>
            </a:r>
            <a:endParaRPr sz="1675" b="1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>
            <p:custDataLst>
              <p:tags r:id="rId26"/>
            </p:custDataLst>
          </p:nvPr>
        </p:nvSpPr>
        <p:spPr>
          <a:xfrm>
            <a:off x="1676358" y="4210049"/>
            <a:ext cx="225736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自动评估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30" name="TextBox 29"/>
          <p:cNvSpPr txBox="1"/>
          <p:nvPr>
            <p:custDataLst>
              <p:tags r:id="rId27"/>
            </p:custDataLst>
          </p:nvPr>
        </p:nvSpPr>
        <p:spPr>
          <a:xfrm>
            <a:off x="1676400" y="4667250"/>
            <a:ext cx="2257425" cy="581660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利用自动化工具或大模型评估</a:t>
            </a:r>
            <a:endParaRPr sz="1195" b="0">
              <a:solidFill>
                <a:srgbClr val="374151"/>
              </a:solidFill>
            </a:endParaRPr>
          </a:p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模型输出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31" name="Picture 30" descr="image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90575" y="5278386"/>
            <a:ext cx="171445" cy="149327"/>
          </a:xfrm>
          <a:prstGeom prst="rect">
            <a:avLst/>
          </a:prstGeom>
        </p:spPr>
      </p:pic>
      <p:sp>
        <p:nvSpPr>
          <p:cNvPr id="32" name="TextBox 31"/>
          <p:cNvSpPr txBox="1"/>
          <p:nvPr>
            <p:custDataLst>
              <p:tags r:id="rId29"/>
            </p:custDataLst>
          </p:nvPr>
        </p:nvSpPr>
        <p:spPr>
          <a:xfrm>
            <a:off x="1200119" y="5248275"/>
            <a:ext cx="73340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5" b="0">
                <a:solidFill>
                  <a:srgbClr val="6B7280"/>
                </a:solidFill>
              </a:rPr>
              <a:t>大幅提高评估效率，需预先校准</a:t>
            </a:r>
            <a:endParaRPr sz="895" b="0">
              <a:solidFill>
                <a:srgbClr val="6B7280"/>
              </a:solidFill>
            </a:endParaRPr>
          </a:p>
        </p:txBody>
      </p:sp>
      <p:sp>
        <p:nvSpPr>
          <p:cNvPr id="33" name="Rounded Rectangle 32"/>
          <p:cNvSpPr/>
          <p:nvPr>
            <p:custDataLst>
              <p:tags r:id="rId30"/>
            </p:custDataLst>
          </p:nvPr>
        </p:nvSpPr>
        <p:spPr>
          <a:xfrm>
            <a:off x="4390915" y="3943350"/>
            <a:ext cx="3400339" cy="174307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>
            <p:custDataLst>
              <p:tags r:id="rId31"/>
            </p:custDataLst>
          </p:nvPr>
        </p:nvSpPr>
        <p:spPr>
          <a:xfrm>
            <a:off x="4619509" y="4210049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>
            <p:custDataLst>
              <p:tags r:id="rId32"/>
            </p:custDataLst>
          </p:nvPr>
        </p:nvSpPr>
        <p:spPr>
          <a:xfrm>
            <a:off x="4733806" y="4286250"/>
            <a:ext cx="323841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FFFFFF"/>
                </a:solidFill>
              </a:rPr>
              <a:t>05</a:t>
            </a:r>
            <a:endParaRPr sz="1675" b="1">
              <a:solidFill>
                <a:srgbClr val="FFFFFF"/>
              </a:solidFill>
            </a:endParaRPr>
          </a:p>
        </p:txBody>
      </p:sp>
      <p:sp>
        <p:nvSpPr>
          <p:cNvPr id="36" name="TextBox 35"/>
          <p:cNvSpPr txBox="1"/>
          <p:nvPr>
            <p:custDataLst>
              <p:tags r:id="rId33"/>
            </p:custDataLst>
          </p:nvPr>
        </p:nvSpPr>
        <p:spPr>
          <a:xfrm>
            <a:off x="5305292" y="4210049"/>
            <a:ext cx="225736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计算指标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37" name="TextBox 36"/>
          <p:cNvSpPr txBox="1"/>
          <p:nvPr>
            <p:custDataLst>
              <p:tags r:id="rId34"/>
            </p:custDataLst>
          </p:nvPr>
        </p:nvSpPr>
        <p:spPr>
          <a:xfrm>
            <a:off x="5305292" y="4503102"/>
            <a:ext cx="2279650" cy="6426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计算各项指标的平均值或分布，</a:t>
            </a:r>
            <a:endParaRPr sz="1195" b="0">
              <a:solidFill>
                <a:srgbClr val="374151"/>
              </a:solidFill>
            </a:endParaRPr>
          </a:p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得到性能概貌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38" name="Picture 37" descr="image.png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19509" y="5278386"/>
            <a:ext cx="171445" cy="149327"/>
          </a:xfrm>
          <a:prstGeom prst="rect">
            <a:avLst/>
          </a:prstGeom>
        </p:spPr>
      </p:pic>
      <p:sp>
        <p:nvSpPr>
          <p:cNvPr id="39" name="TextBox 38"/>
          <p:cNvSpPr txBox="1"/>
          <p:nvPr>
            <p:custDataLst>
              <p:tags r:id="rId36"/>
            </p:custDataLst>
          </p:nvPr>
        </p:nvSpPr>
        <p:spPr>
          <a:xfrm>
            <a:off x="4829054" y="5248275"/>
            <a:ext cx="78103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5" b="0">
                <a:solidFill>
                  <a:srgbClr val="6B7280"/>
                </a:solidFill>
              </a:rPr>
              <a:t>量化指标直观反映检索和生成表现</a:t>
            </a:r>
            <a:endParaRPr sz="895" b="0">
              <a:solidFill>
                <a:srgbClr val="6B7280"/>
              </a:solidFill>
            </a:endParaRPr>
          </a:p>
        </p:txBody>
      </p:sp>
      <p:sp>
        <p:nvSpPr>
          <p:cNvPr id="40" name="Rounded Rectangle 39"/>
          <p:cNvSpPr/>
          <p:nvPr>
            <p:custDataLst>
              <p:tags r:id="rId37"/>
            </p:custDataLst>
          </p:nvPr>
        </p:nvSpPr>
        <p:spPr>
          <a:xfrm>
            <a:off x="8029374" y="3943350"/>
            <a:ext cx="3400339" cy="174307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>
            <p:custDataLst>
              <p:tags r:id="rId38"/>
            </p:custDataLst>
          </p:nvPr>
        </p:nvSpPr>
        <p:spPr>
          <a:xfrm>
            <a:off x="8257968" y="4210049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>
            <p:custDataLst>
              <p:tags r:id="rId39"/>
            </p:custDataLst>
          </p:nvPr>
        </p:nvSpPr>
        <p:spPr>
          <a:xfrm>
            <a:off x="8362740" y="4286250"/>
            <a:ext cx="323841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FFFFFF"/>
                </a:solidFill>
              </a:rPr>
              <a:t>06</a:t>
            </a:r>
            <a:endParaRPr sz="1675" b="1">
              <a:solidFill>
                <a:srgbClr val="FFFFFF"/>
              </a:solidFill>
            </a:endParaRPr>
          </a:p>
        </p:txBody>
      </p:sp>
      <p:sp>
        <p:nvSpPr>
          <p:cNvPr id="43" name="TextBox 42"/>
          <p:cNvSpPr txBox="1"/>
          <p:nvPr>
            <p:custDataLst>
              <p:tags r:id="rId40"/>
            </p:custDataLst>
          </p:nvPr>
        </p:nvSpPr>
        <p:spPr>
          <a:xfrm>
            <a:off x="8943751" y="4210049"/>
            <a:ext cx="225736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分析改进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44" name="TextBox 43"/>
          <p:cNvSpPr txBox="1"/>
          <p:nvPr>
            <p:custDataLst>
              <p:tags r:id="rId41"/>
            </p:custDataLst>
          </p:nvPr>
        </p:nvSpPr>
        <p:spPr>
          <a:xfrm>
            <a:off x="8943975" y="4581525"/>
            <a:ext cx="2257425" cy="554990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根据指标定位问题，调整参数或</a:t>
            </a:r>
            <a:endParaRPr sz="1195" b="0">
              <a:solidFill>
                <a:srgbClr val="374151"/>
              </a:solidFill>
            </a:endParaRPr>
          </a:p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提示词后迭代优化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45" name="Picture 44" descr="image.png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57968" y="5278386"/>
            <a:ext cx="171445" cy="149327"/>
          </a:xfrm>
          <a:prstGeom prst="rect">
            <a:avLst/>
          </a:prstGeom>
        </p:spPr>
      </p:pic>
      <p:sp>
        <p:nvSpPr>
          <p:cNvPr id="46" name="TextBox 45"/>
          <p:cNvSpPr txBox="1"/>
          <p:nvPr>
            <p:custDataLst>
              <p:tags r:id="rId43"/>
            </p:custDataLst>
          </p:nvPr>
        </p:nvSpPr>
        <p:spPr>
          <a:xfrm>
            <a:off x="8467513" y="5248275"/>
            <a:ext cx="67625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5" b="0">
                <a:solidFill>
                  <a:srgbClr val="6B7280"/>
                </a:solidFill>
              </a:rPr>
              <a:t>持续优化，不断提升模型性能</a:t>
            </a:r>
            <a:endParaRPr sz="895" b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55243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在线评估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4988" y="314324"/>
            <a:ext cx="145728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Online Evaluation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61980" y="1590675"/>
            <a:ext cx="2800279" cy="162877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>
            <p:custDataLst>
              <p:tags r:id="rId2"/>
            </p:custDataLst>
          </p:nvPr>
        </p:nvSpPr>
        <p:spPr>
          <a:xfrm rot="16200000">
            <a:off x="13633" y="2339022"/>
            <a:ext cx="1628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3"/>
            </p:custDataLst>
          </p:nvPr>
        </p:nvSpPr>
        <p:spPr>
          <a:xfrm>
            <a:off x="1028674" y="1819275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62020" y="2001906"/>
            <a:ext cx="266693" cy="168136"/>
          </a:xfrm>
          <a:prstGeom prst="rect">
            <a:avLst/>
          </a:prstGeom>
        </p:spPr>
      </p:pic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714457" y="1819275"/>
            <a:ext cx="161920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5" b="1">
                <a:solidFill>
                  <a:srgbClr val="133EFF"/>
                </a:solidFill>
              </a:rPr>
              <a:t>A/B测试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1714457" y="2228850"/>
            <a:ext cx="161920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5" b="0">
                <a:solidFill>
                  <a:srgbClr val="6B7280"/>
                </a:solidFill>
              </a:rPr>
              <a:t>A/B Testing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1714457" y="2398077"/>
            <a:ext cx="1670050" cy="6426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随机分流用户至不同模</a:t>
            </a:r>
            <a:endParaRPr sz="1195" b="0">
              <a:solidFill>
                <a:srgbClr val="374151"/>
              </a:solidFill>
            </a:endParaRPr>
          </a:p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型版本，对比关键指标</a:t>
            </a:r>
            <a:endParaRPr sz="1195" b="0">
              <a:solidFill>
                <a:srgbClr val="374151"/>
              </a:solidFill>
            </a:endParaRPr>
          </a:p>
        </p:txBody>
      </p:sp>
      <p:sp>
        <p:nvSpPr>
          <p:cNvPr id="12" name="Rounded Rectangle 11"/>
          <p:cNvSpPr/>
          <p:nvPr>
            <p:custDataLst>
              <p:tags r:id="rId9"/>
            </p:custDataLst>
          </p:nvPr>
        </p:nvSpPr>
        <p:spPr>
          <a:xfrm>
            <a:off x="3752756" y="1590675"/>
            <a:ext cx="2800279" cy="162877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>
            <p:custDataLst>
              <p:tags r:id="rId10"/>
            </p:custDataLst>
          </p:nvPr>
        </p:nvSpPr>
        <p:spPr>
          <a:xfrm rot="16200000">
            <a:off x="3004409" y="2339022"/>
            <a:ext cx="1628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>
            <p:custDataLst>
              <p:tags r:id="rId11"/>
            </p:custDataLst>
          </p:nvPr>
        </p:nvSpPr>
        <p:spPr>
          <a:xfrm>
            <a:off x="4019449" y="1819275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4152796" y="1972917"/>
            <a:ext cx="266693" cy="226115"/>
          </a:xfrm>
          <a:prstGeom prst="rect">
            <a:avLst/>
          </a:prstGeom>
        </p:spPr>
      </p:pic>
      <p:sp>
        <p:nvSpPr>
          <p:cNvPr id="16" name="TextBox 15"/>
          <p:cNvSpPr txBox="1"/>
          <p:nvPr>
            <p:custDataLst>
              <p:tags r:id="rId14"/>
            </p:custDataLst>
          </p:nvPr>
        </p:nvSpPr>
        <p:spPr>
          <a:xfrm>
            <a:off x="4705232" y="1819275"/>
            <a:ext cx="161920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5" b="1">
                <a:solidFill>
                  <a:srgbClr val="133EFF"/>
                </a:solidFill>
              </a:rPr>
              <a:t>用户反馈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17" name="TextBox 16"/>
          <p:cNvSpPr txBox="1"/>
          <p:nvPr>
            <p:custDataLst>
              <p:tags r:id="rId15"/>
            </p:custDataLst>
          </p:nvPr>
        </p:nvSpPr>
        <p:spPr>
          <a:xfrm>
            <a:off x="4705232" y="2228850"/>
            <a:ext cx="161920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5" b="0">
                <a:solidFill>
                  <a:srgbClr val="6B7280"/>
                </a:solidFill>
              </a:rPr>
              <a:t>User Feedback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6"/>
            </p:custDataLst>
          </p:nvPr>
        </p:nvSpPr>
        <p:spPr>
          <a:xfrm>
            <a:off x="4705232" y="2398077"/>
            <a:ext cx="1576705" cy="6426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收集点赞/点踩及文字</a:t>
            </a:r>
            <a:endParaRPr sz="1195" b="0">
              <a:solidFill>
                <a:srgbClr val="374151"/>
              </a:solidFill>
            </a:endParaRPr>
          </a:p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反馈作为准确度指标</a:t>
            </a:r>
            <a:endParaRPr sz="1195" b="0">
              <a:solidFill>
                <a:srgbClr val="374151"/>
              </a:solidFill>
            </a:endParaRPr>
          </a:p>
        </p:txBody>
      </p:sp>
      <p:sp>
        <p:nvSpPr>
          <p:cNvPr id="19" name="Rounded Rectangle 18"/>
          <p:cNvSpPr/>
          <p:nvPr>
            <p:custDataLst>
              <p:tags r:id="rId17"/>
            </p:custDataLst>
          </p:nvPr>
        </p:nvSpPr>
        <p:spPr>
          <a:xfrm>
            <a:off x="761980" y="3409950"/>
            <a:ext cx="2800279" cy="18859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>
            <p:custDataLst>
              <p:tags r:id="rId18"/>
            </p:custDataLst>
          </p:nvPr>
        </p:nvSpPr>
        <p:spPr>
          <a:xfrm rot="16200000">
            <a:off x="-114955" y="4286885"/>
            <a:ext cx="1885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9"/>
            </p:custDataLst>
          </p:nvPr>
        </p:nvSpPr>
        <p:spPr>
          <a:xfrm>
            <a:off x="1028674" y="3638550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1162020" y="3800889"/>
            <a:ext cx="266693" cy="208721"/>
          </a:xfrm>
          <a:prstGeom prst="rect">
            <a:avLst/>
          </a:prstGeom>
        </p:spPr>
      </p:pic>
      <p:sp>
        <p:nvSpPr>
          <p:cNvPr id="23" name="TextBox 22"/>
          <p:cNvSpPr txBox="1"/>
          <p:nvPr>
            <p:custDataLst>
              <p:tags r:id="rId22"/>
            </p:custDataLst>
          </p:nvPr>
        </p:nvSpPr>
        <p:spPr>
          <a:xfrm>
            <a:off x="1714457" y="3638550"/>
            <a:ext cx="161920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5" b="1">
                <a:solidFill>
                  <a:srgbClr val="133EFF"/>
                </a:solidFill>
              </a:rPr>
              <a:t>日志分析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24" name="TextBox 23"/>
          <p:cNvSpPr txBox="1"/>
          <p:nvPr>
            <p:custDataLst>
              <p:tags r:id="rId23"/>
            </p:custDataLst>
          </p:nvPr>
        </p:nvSpPr>
        <p:spPr>
          <a:xfrm>
            <a:off x="1714457" y="4038599"/>
            <a:ext cx="161920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5" b="0">
                <a:solidFill>
                  <a:srgbClr val="6B7280"/>
                </a:solidFill>
              </a:rPr>
              <a:t>Log Analysis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25" name="TextBox 24"/>
          <p:cNvSpPr txBox="1"/>
          <p:nvPr>
            <p:custDataLst>
              <p:tags r:id="rId24"/>
            </p:custDataLst>
          </p:nvPr>
        </p:nvSpPr>
        <p:spPr>
          <a:xfrm>
            <a:off x="1663657" y="4465637"/>
            <a:ext cx="1670050" cy="6426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监控引用率、修改查询</a:t>
            </a:r>
            <a:endParaRPr sz="1195" b="0">
              <a:solidFill>
                <a:srgbClr val="374151"/>
              </a:solidFill>
            </a:endParaRPr>
          </a:p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率、对话轮次等指标</a:t>
            </a:r>
            <a:endParaRPr sz="1195" b="0">
              <a:solidFill>
                <a:srgbClr val="374151"/>
              </a:solidFill>
            </a:endParaRPr>
          </a:p>
        </p:txBody>
      </p:sp>
      <p:sp>
        <p:nvSpPr>
          <p:cNvPr id="26" name="Rounded Rectangle 25"/>
          <p:cNvSpPr/>
          <p:nvPr>
            <p:custDataLst>
              <p:tags r:id="rId25"/>
            </p:custDataLst>
          </p:nvPr>
        </p:nvSpPr>
        <p:spPr>
          <a:xfrm>
            <a:off x="3752756" y="3409950"/>
            <a:ext cx="2800279" cy="18859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>
            <p:custDataLst>
              <p:tags r:id="rId26"/>
            </p:custDataLst>
          </p:nvPr>
        </p:nvSpPr>
        <p:spPr>
          <a:xfrm rot="16200000">
            <a:off x="2875821" y="4286885"/>
            <a:ext cx="1885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>
            <p:custDataLst>
              <p:tags r:id="rId27"/>
            </p:custDataLst>
          </p:nvPr>
        </p:nvSpPr>
        <p:spPr>
          <a:xfrm>
            <a:off x="4019449" y="3638550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alphaModFix amt="100000"/>
          </a:blip>
          <a:stretch>
            <a:fillRect/>
          </a:stretch>
        </p:blipFill>
        <p:spPr>
          <a:xfrm>
            <a:off x="4152796" y="3877339"/>
            <a:ext cx="266693" cy="55820"/>
          </a:xfrm>
          <a:prstGeom prst="rect">
            <a:avLst/>
          </a:prstGeom>
        </p:spPr>
      </p:pic>
      <p:sp>
        <p:nvSpPr>
          <p:cNvPr id="30" name="TextBox 29"/>
          <p:cNvSpPr txBox="1"/>
          <p:nvPr>
            <p:custDataLst>
              <p:tags r:id="rId30"/>
            </p:custDataLst>
          </p:nvPr>
        </p:nvSpPr>
        <p:spPr>
          <a:xfrm>
            <a:off x="4705232" y="3638550"/>
            <a:ext cx="161920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5" b="1">
                <a:solidFill>
                  <a:srgbClr val="133EFF"/>
                </a:solidFill>
              </a:rPr>
              <a:t>性能监控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31" name="TextBox 30"/>
          <p:cNvSpPr txBox="1"/>
          <p:nvPr>
            <p:custDataLst>
              <p:tags r:id="rId31"/>
            </p:custDataLst>
          </p:nvPr>
        </p:nvSpPr>
        <p:spPr>
          <a:xfrm>
            <a:off x="4705232" y="4038599"/>
            <a:ext cx="1619209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5" b="0">
                <a:solidFill>
                  <a:srgbClr val="6B7280"/>
                </a:solidFill>
              </a:rPr>
              <a:t>Performance Monitoring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32" name="TextBox 31"/>
          <p:cNvSpPr txBox="1"/>
          <p:nvPr>
            <p:custDataLst>
              <p:tags r:id="rId32"/>
            </p:custDataLst>
          </p:nvPr>
        </p:nvSpPr>
        <p:spPr>
          <a:xfrm>
            <a:off x="4705232" y="4465003"/>
            <a:ext cx="1670050" cy="6426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跟踪响应时间、资源使</a:t>
            </a:r>
            <a:endParaRPr sz="1195" b="0">
              <a:solidFill>
                <a:srgbClr val="374151"/>
              </a:solidFill>
            </a:endParaRPr>
          </a:p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用、错误率等技术指标</a:t>
            </a:r>
            <a:endParaRPr sz="1195" b="0">
              <a:solidFill>
                <a:srgbClr val="37415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61980" y="5514975"/>
            <a:ext cx="5791055" cy="561974"/>
          </a:xfrm>
          <a:prstGeom prst="roundRect">
            <a:avLst>
              <a:gd name="adj" fmla="val 27118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47033" y="5729922"/>
            <a:ext cx="5619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3">
            <a:alphaModFix amt="100000"/>
          </a:blip>
          <a:stretch>
            <a:fillRect/>
          </a:stretch>
        </p:blipFill>
        <p:spPr>
          <a:xfrm>
            <a:off x="952476" y="5710108"/>
            <a:ext cx="209544" cy="1812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38219" y="5667374"/>
            <a:ext cx="194305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74151"/>
                </a:solidFill>
              </a:rPr>
              <a:t>在生产环境中通过真实用户数据评估模型效果，发现离线未覆盖的问题</a:t>
            </a:r>
            <a:endParaRPr sz="1075" b="0">
              <a:solidFill>
                <a:srgbClr val="37415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619809" y="1219200"/>
            <a:ext cx="4267093" cy="5238749"/>
          </a:xfrm>
          <a:prstGeom prst="roundRect">
            <a:avLst/>
          </a:prstGeom>
          <a:blipFill>
            <a:blip r:embed="rId3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1247743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持续集成与自动报警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19445" y="322579"/>
            <a:ext cx="32860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CI/CD Integration &amp; Automated Alerting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428714" y="1543050"/>
            <a:ext cx="761980" cy="761999"/>
          </a:xfrm>
          <a:prstGeom prst="roundRect">
            <a:avLst>
              <a:gd name="adj" fmla="val 2499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1619209" y="1822846"/>
            <a:ext cx="380990" cy="2024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1980" y="2457450"/>
            <a:ext cx="209544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33EFF"/>
                </a:solidFill>
              </a:rPr>
              <a:t>代码更新</a:t>
            </a:r>
            <a:endParaRPr sz="1435" b="1">
              <a:solidFill>
                <a:srgbClr val="133E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980" y="2876549"/>
            <a:ext cx="209544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4B5563"/>
                </a:solidFill>
              </a:rPr>
              <a:t>Code Update</a:t>
            </a:r>
            <a:endParaRPr sz="1075" b="0">
              <a:solidFill>
                <a:srgbClr val="4B5563"/>
              </a:solidFill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933626" y="2183852"/>
            <a:ext cx="342891" cy="24239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86142" y="1543050"/>
            <a:ext cx="761980" cy="761999"/>
          </a:xfrm>
          <a:prstGeom prst="roundRect">
            <a:avLst>
              <a:gd name="adj" fmla="val 2499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476638" y="1807964"/>
            <a:ext cx="380990" cy="2321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19409" y="2457450"/>
            <a:ext cx="209544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33EFF"/>
                </a:solidFill>
              </a:rPr>
              <a:t>触发评估</a:t>
            </a:r>
            <a:endParaRPr sz="1435" b="1">
              <a:solidFill>
                <a:srgbClr val="133E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19409" y="2876549"/>
            <a:ext cx="209544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4B5563"/>
                </a:solidFill>
              </a:rPr>
              <a:t>Trigger Evaluation</a:t>
            </a:r>
            <a:endParaRPr sz="1075" b="0">
              <a:solidFill>
                <a:srgbClr val="4B5563"/>
              </a:solidFill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791055" y="2183852"/>
            <a:ext cx="342891" cy="24239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143571" y="1543050"/>
            <a:ext cx="761980" cy="761999"/>
          </a:xfrm>
          <a:prstGeom prst="roundRect">
            <a:avLst>
              <a:gd name="adj" fmla="val 2499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334066" y="1778198"/>
            <a:ext cx="380990" cy="29170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6838" y="2457450"/>
            <a:ext cx="209544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33EFF"/>
                </a:solidFill>
              </a:rPr>
              <a:t>自动评估</a:t>
            </a:r>
            <a:endParaRPr sz="1435" b="1">
              <a:solidFill>
                <a:srgbClr val="133E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76838" y="2876549"/>
            <a:ext cx="209544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4B5563"/>
                </a:solidFill>
              </a:rPr>
              <a:t>Auto Evaluation</a:t>
            </a:r>
            <a:endParaRPr sz="1075" b="0">
              <a:solidFill>
                <a:srgbClr val="4B5563"/>
              </a:solidFill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48483" y="2183852"/>
            <a:ext cx="342891" cy="24239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0000999" y="1543050"/>
            <a:ext cx="761980" cy="761999"/>
          </a:xfrm>
          <a:prstGeom prst="roundRect">
            <a:avLst>
              <a:gd name="adj" fmla="val 2499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191495" y="1778198"/>
            <a:ext cx="380990" cy="29170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34266" y="2457450"/>
            <a:ext cx="209544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33EFF"/>
                </a:solidFill>
              </a:rPr>
              <a:t>指标对比</a:t>
            </a:r>
            <a:endParaRPr sz="1435" b="1">
              <a:solidFill>
                <a:srgbClr val="133E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34266" y="2876549"/>
            <a:ext cx="209544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4B5563"/>
                </a:solidFill>
              </a:rPr>
              <a:t>Compare Metrics</a:t>
            </a:r>
            <a:endParaRPr sz="1075" b="0">
              <a:solidFill>
                <a:srgbClr val="4B5563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324041" y="3581400"/>
            <a:ext cx="3619409" cy="1123949"/>
          </a:xfrm>
          <a:prstGeom prst="roundRect">
            <a:avLst>
              <a:gd name="adj" fmla="val 203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1828107" y="4077334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90735" y="3848099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0CD82"/>
              </a:gs>
              <a:gs pos="100000">
                <a:srgbClr val="00B872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743131" y="4023946"/>
            <a:ext cx="304792" cy="2579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52716" y="3809999"/>
            <a:ext cx="236214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00CD82"/>
                </a:solidFill>
              </a:rPr>
              <a:t>指标正常</a:t>
            </a:r>
            <a:endParaRPr sz="1435" b="1">
              <a:solidFill>
                <a:srgbClr val="00CD8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52716" y="4190999"/>
            <a:ext cx="236214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自动上线部署</a:t>
            </a:r>
            <a:endParaRPr sz="1195" b="0">
              <a:solidFill>
                <a:srgbClr val="374151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48243" y="3600450"/>
            <a:ext cx="3619409" cy="10858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771358" y="4077335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14937" y="3848099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F6B6B"/>
              </a:gs>
              <a:gs pos="100000">
                <a:srgbClr val="EE5A52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67333" y="4029807"/>
            <a:ext cx="304792" cy="246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76918" y="3829050"/>
            <a:ext cx="236214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6B6B"/>
                </a:solidFill>
              </a:rPr>
              <a:t>指标下降</a:t>
            </a:r>
            <a:endParaRPr sz="1435" b="1">
              <a:solidFill>
                <a:srgbClr val="FF6B6B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76918" y="4171950"/>
            <a:ext cx="236214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触发报警或阻止上线</a:t>
            </a:r>
            <a:endParaRPr sz="1195" b="0">
              <a:solidFill>
                <a:srgbClr val="37415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61980" y="5162550"/>
            <a:ext cx="3400339" cy="962024"/>
          </a:xfrm>
          <a:prstGeom prst="roundRect">
            <a:avLst>
              <a:gd name="adj" fmla="val 1584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347008" y="5577522"/>
            <a:ext cx="962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90575" y="5430285"/>
            <a:ext cx="266693" cy="18842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71565" y="5353049"/>
            <a:ext cx="75245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5" b="1">
                <a:solidFill>
                  <a:srgbClr val="133EFF"/>
                </a:solidFill>
              </a:rPr>
              <a:t>自动化流程</a:t>
            </a:r>
            <a:endParaRPr sz="1195" b="1">
              <a:solidFill>
                <a:srgbClr val="133E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371565" y="5676900"/>
            <a:ext cx="75245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74151"/>
                </a:solidFill>
              </a:rPr>
              <a:t>每次更新自动运行离线评估</a:t>
            </a:r>
            <a:endParaRPr sz="1075" b="0">
              <a:solidFill>
                <a:srgbClr val="374151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390915" y="5162550"/>
            <a:ext cx="3400339" cy="962024"/>
          </a:xfrm>
          <a:prstGeom prst="roundRect">
            <a:avLst>
              <a:gd name="adj" fmla="val 1584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3975943" y="5577522"/>
            <a:ext cx="962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619509" y="5440431"/>
            <a:ext cx="266693" cy="16813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000499" y="5353049"/>
            <a:ext cx="56196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5" b="1">
                <a:solidFill>
                  <a:srgbClr val="133EFF"/>
                </a:solidFill>
              </a:rPr>
              <a:t>基线对比</a:t>
            </a:r>
            <a:endParaRPr sz="1195" b="1">
              <a:solidFill>
                <a:srgbClr val="133E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00499" y="5676900"/>
            <a:ext cx="56196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74151"/>
                </a:solidFill>
              </a:rPr>
              <a:t>与历史基线性能对比</a:t>
            </a:r>
            <a:endParaRPr sz="1075" b="0">
              <a:solidFill>
                <a:srgbClr val="37415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029374" y="5162550"/>
            <a:ext cx="3400339" cy="962024"/>
          </a:xfrm>
          <a:prstGeom prst="roundRect">
            <a:avLst>
              <a:gd name="adj" fmla="val 1584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7614402" y="5577522"/>
            <a:ext cx="962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57968" y="5399846"/>
            <a:ext cx="266693" cy="24930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638959" y="5353049"/>
            <a:ext cx="62863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5" b="1">
                <a:solidFill>
                  <a:srgbClr val="133EFF"/>
                </a:solidFill>
              </a:rPr>
              <a:t>性能保护</a:t>
            </a:r>
            <a:endParaRPr sz="1195" b="1">
              <a:solidFill>
                <a:srgbClr val="133E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638959" y="5676900"/>
            <a:ext cx="62863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74151"/>
                </a:solidFill>
              </a:rPr>
              <a:t>防止性能退化确保质量</a:t>
            </a:r>
            <a:endParaRPr sz="1075" b="0">
              <a:solidFill>
                <a:srgbClr val="37415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97152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测试平台与工具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43837" y="247649"/>
            <a:ext cx="212402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Testing Platforms &amp; Tools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61980" y="1428750"/>
            <a:ext cx="3352716" cy="48006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57348" y="1771650"/>
            <a:ext cx="761980" cy="761999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2228794" y="1990997"/>
            <a:ext cx="419089" cy="3233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85902" y="2686050"/>
            <a:ext cx="1104872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5" b="1">
                <a:solidFill>
                  <a:srgbClr val="133EFF"/>
                </a:solidFill>
              </a:rPr>
              <a:t>RAGAS</a:t>
            </a:r>
            <a:endParaRPr sz="1915" b="1">
              <a:solidFill>
                <a:srgbClr val="133E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00179" y="3181350"/>
            <a:ext cx="127631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RAG Assessment</a:t>
            </a:r>
            <a:endParaRPr sz="955" b="0">
              <a:solidFill>
                <a:srgbClr val="6B7280"/>
              </a:solidFill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66773" y="369065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33466" y="3638550"/>
            <a:ext cx="97152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RAG应用性能评估框架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66773" y="41288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3466" y="4076699"/>
            <a:ext cx="130489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Faithfulness评估指标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66773" y="4566957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33466" y="4514850"/>
            <a:ext cx="172398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Answer Relevance评估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66773" y="50051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33466" y="4952999"/>
            <a:ext cx="207639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Context Precision/Recall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66773" y="5732088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33466" y="5676900"/>
            <a:ext cx="89532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4B5563"/>
                </a:solidFill>
              </a:rPr>
              <a:t>LLM作为裁判自动化评估</a:t>
            </a:r>
            <a:endParaRPr sz="1075" b="0">
              <a:solidFill>
                <a:srgbClr val="4B5563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19489" y="1428750"/>
            <a:ext cx="3352716" cy="48006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14857" y="1771650"/>
            <a:ext cx="761980" cy="761999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86302" y="1958067"/>
            <a:ext cx="419089" cy="389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505312" y="2686050"/>
            <a:ext cx="118107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5" b="1">
                <a:solidFill>
                  <a:srgbClr val="133EFF"/>
                </a:solidFill>
              </a:rPr>
              <a:t>TruLens</a:t>
            </a:r>
            <a:endParaRPr sz="1915" b="1">
              <a:solidFill>
                <a:srgbClr val="133E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0064" y="3181350"/>
            <a:ext cx="137156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Trustworthy LLM</a:t>
            </a:r>
            <a:endParaRPr sz="955" b="0">
              <a:solidFill>
                <a:srgbClr val="6B7280"/>
              </a:solidFill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724281" y="3690657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90975" y="3638550"/>
            <a:ext cx="76198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生成模型可靠性和安全性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724281" y="412880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90975" y="4076699"/>
            <a:ext cx="55243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可解释性评估功能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724281" y="456695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990975" y="4514850"/>
            <a:ext cx="41908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安全过滤评估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724281" y="500510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990975" y="4952999"/>
            <a:ext cx="62863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检测偏见和敏感内容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724281" y="5708276"/>
            <a:ext cx="190495" cy="18489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990975" y="5676900"/>
            <a:ext cx="77150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4B5563"/>
                </a:solidFill>
              </a:rPr>
              <a:t>端到端RAG系统评估</a:t>
            </a:r>
            <a:endParaRPr sz="1075" b="0">
              <a:solidFill>
                <a:srgbClr val="4B5563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76998" y="1428750"/>
            <a:ext cx="3352716" cy="48006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372365" y="1771650"/>
            <a:ext cx="761980" cy="761999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543811" y="1953577"/>
            <a:ext cx="419089" cy="3981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467613" y="2686050"/>
            <a:ext cx="571485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5" b="1">
                <a:solidFill>
                  <a:srgbClr val="133EFF"/>
                </a:solidFill>
              </a:rPr>
              <a:t>Dify</a:t>
            </a:r>
            <a:endParaRPr sz="1915" b="1">
              <a:solidFill>
                <a:srgbClr val="133EFF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38979" y="3181350"/>
            <a:ext cx="18287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Development Platform</a:t>
            </a:r>
            <a:endParaRPr sz="955" b="0">
              <a:solidFill>
                <a:srgbClr val="6B7280"/>
              </a:solidFill>
            </a:endParaRP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0" y="369065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48483" y="3638550"/>
            <a:ext cx="41908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应用调试界面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0" y="4128807"/>
            <a:ext cx="190495" cy="1624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648483" y="4076699"/>
            <a:ext cx="58101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A/B测试功能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0" y="4566957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48483" y="4514850"/>
            <a:ext cx="35241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日志和监控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0" y="5005107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48483" y="4952999"/>
            <a:ext cx="55243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生产环境性能追踪</a:t>
            </a:r>
            <a:endParaRPr sz="1195" b="0">
              <a:solidFill>
                <a:srgbClr val="374151"/>
              </a:solidFill>
            </a:endParaRP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81790" y="5718081"/>
            <a:ext cx="190495" cy="16528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648483" y="5676900"/>
            <a:ext cx="56196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4B5563"/>
                </a:solidFill>
              </a:rPr>
              <a:t>内置评估和测试功能</a:t>
            </a:r>
            <a:endParaRPr sz="1075" b="0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111439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知识入库阶段优化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09899" y="276224"/>
            <a:ext cx="289552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Knowledge Ingestion Optimization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04792" y="1219200"/>
            <a:ext cx="4267093" cy="5238749"/>
          </a:xfrm>
          <a:prstGeom prst="round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38659" y="1314450"/>
            <a:ext cx="5791055" cy="1552574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928412" y="2024697"/>
            <a:ext cx="15525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05352" y="1543050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38699" y="1685096"/>
            <a:ext cx="266693" cy="2493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234" y="1543050"/>
            <a:ext cx="457188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数据预处理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29234" y="1990724"/>
            <a:ext cx="457188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5" b="0">
                <a:solidFill>
                  <a:srgbClr val="6B7280"/>
                </a:solidFill>
              </a:rPr>
              <a:t>Data Preprocessing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234" y="2324100"/>
            <a:ext cx="457188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对原始文档进行结构化解析和数据清洗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38659" y="3057525"/>
            <a:ext cx="5791055" cy="1552574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4928412" y="3767772"/>
            <a:ext cx="15525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05352" y="3286125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38699" y="3468756"/>
            <a:ext cx="266693" cy="1681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29234" y="3286125"/>
            <a:ext cx="457188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合理分块策略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29234" y="3733799"/>
            <a:ext cx="457188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5" b="0">
                <a:solidFill>
                  <a:srgbClr val="6B7280"/>
                </a:solidFill>
              </a:rPr>
              <a:t>Chunking Strategy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29234" y="4067174"/>
            <a:ext cx="457188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语义感知分块，保持段落或章节的完整语义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38659" y="4800600"/>
            <a:ext cx="5791055" cy="1552574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4928412" y="5510847"/>
            <a:ext cx="15525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05352" y="5029200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38699" y="5191539"/>
            <a:ext cx="266693" cy="20872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29234" y="5029200"/>
            <a:ext cx="457188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5" b="1">
                <a:solidFill>
                  <a:srgbClr val="133EFF"/>
                </a:solidFill>
              </a:rPr>
              <a:t>领域适配 LoRA</a:t>
            </a:r>
            <a:endParaRPr sz="1555" b="1">
              <a:solidFill>
                <a:srgbClr val="133E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29234" y="5476875"/>
            <a:ext cx="457188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5" b="0">
                <a:solidFill>
                  <a:srgbClr val="6B7280"/>
                </a:solidFill>
              </a:rPr>
              <a:t>Domain-Adapted LoRA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29234" y="5810249"/>
            <a:ext cx="457188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微调嵌入模型，提升专业术语语义对齐能力</a:t>
            </a:r>
            <a:endParaRPr sz="1315" b="0">
              <a:solidFill>
                <a:srgbClr val="37415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203829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LLM检索阶段优化（一）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25216" y="247649"/>
            <a:ext cx="280980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LLM Retrieval Optimization Part 1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61980" y="1238249"/>
            <a:ext cx="5219569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410229" y="2410458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8674" y="1466849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1181070" y="1672003"/>
            <a:ext cx="304792" cy="199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90655" y="1466849"/>
            <a:ext cx="3962300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1675" b="1">
                <a:solidFill>
                  <a:srgbClr val="133EFF"/>
                </a:solidFill>
              </a:rPr>
              <a:t>提示词工程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0655" y="1904999"/>
            <a:ext cx="396230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Prompt Engineering</a:t>
            </a:r>
            <a:endParaRPr sz="1075" b="0">
              <a:solidFill>
                <a:srgbClr val="6B7280"/>
              </a:solidFill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28674" y="2376207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95367" y="2324100"/>
            <a:ext cx="107629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明确要求仅基于知识库内容回答</a:t>
            </a:r>
            <a:endParaRPr sz="1315" b="0">
              <a:solidFill>
                <a:srgbClr val="374151"/>
              </a:solidFill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28674" y="27953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5367" y="2743200"/>
            <a:ext cx="76198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禁止模型凭空编造信息</a:t>
            </a:r>
            <a:endParaRPr sz="1315" b="0">
              <a:solidFill>
                <a:srgbClr val="374151"/>
              </a:solidFill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28674" y="323345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95367" y="3181350"/>
            <a:ext cx="60958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大幅降低幻觉风险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0144" y="1238249"/>
            <a:ext cx="5219569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5037935" y="2410458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76838" y="1466849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29234" y="1628042"/>
            <a:ext cx="304792" cy="2872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38819" y="1466849"/>
            <a:ext cx="3962300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1675" b="1">
                <a:solidFill>
                  <a:srgbClr val="133EFF"/>
                </a:solidFill>
              </a:rPr>
              <a:t>查询改写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38819" y="1904999"/>
            <a:ext cx="396230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Query Rewriting</a:t>
            </a:r>
            <a:endParaRPr sz="1075" b="0">
              <a:solidFill>
                <a:srgbClr val="6B7280"/>
              </a:solidFill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76838" y="237620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43531" y="2324100"/>
            <a:ext cx="91437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改写为多个更易检索的变体</a:t>
            </a:r>
            <a:endParaRPr sz="1315" b="0">
              <a:solidFill>
                <a:srgbClr val="374151"/>
              </a:solidFill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76838" y="2795307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43531" y="2743200"/>
            <a:ext cx="99057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拆解复杂问题、补全隐含信息</a:t>
            </a:r>
            <a:endParaRPr sz="1315" b="0">
              <a:solidFill>
                <a:srgbClr val="374151"/>
              </a:solidFill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76838" y="323345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43531" y="3181350"/>
            <a:ext cx="83817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显著提高复杂查询召回率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61980" y="3943350"/>
            <a:ext cx="5219569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-410229" y="5115559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28674" y="4171950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81070" y="4368311"/>
            <a:ext cx="304792" cy="2168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790655" y="4171950"/>
            <a:ext cx="3962300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1675" b="1">
                <a:solidFill>
                  <a:srgbClr val="133EFF"/>
                </a:solidFill>
              </a:rPr>
              <a:t>自查询检索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90655" y="4610099"/>
            <a:ext cx="396230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Self-Query Retrieval</a:t>
            </a:r>
            <a:endParaRPr sz="1075" b="0">
              <a:solidFill>
                <a:srgbClr val="6B7280"/>
              </a:solidFill>
            </a:endParaRP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28674" y="508130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95367" y="5029200"/>
            <a:ext cx="68578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提取结构化过滤条件</a:t>
            </a:r>
            <a:endParaRPr sz="1315" b="0">
              <a:solidFill>
                <a:srgbClr val="374151"/>
              </a:solidFill>
            </a:endParaRP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28674" y="5500407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95367" y="5448300"/>
            <a:ext cx="76198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如日期、类别、作者等</a:t>
            </a:r>
            <a:endParaRPr sz="1315" b="0">
              <a:solidFill>
                <a:srgbClr val="374151"/>
              </a:solidFill>
            </a:endParaRP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28674" y="5938557"/>
            <a:ext cx="190495" cy="16248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95367" y="5886450"/>
            <a:ext cx="68578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与向量检索同时使用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210144" y="3943350"/>
            <a:ext cx="5219569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5037935" y="5115559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76838" y="4171950"/>
            <a:ext cx="609584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29234" y="4365380"/>
            <a:ext cx="304792" cy="22273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238819" y="4171950"/>
            <a:ext cx="3962300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1675" b="1">
                <a:solidFill>
                  <a:srgbClr val="133EFF"/>
                </a:solidFill>
              </a:rPr>
              <a:t>混合检索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238819" y="4610099"/>
            <a:ext cx="396230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Hybrid Retrieval</a:t>
            </a:r>
            <a:endParaRPr sz="1075" b="0">
              <a:solidFill>
                <a:srgbClr val="6B7280"/>
              </a:solidFill>
            </a:endParaRP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76838" y="5081307"/>
            <a:ext cx="190495" cy="16248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743531" y="5029200"/>
            <a:ext cx="161920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结合向量检索和关键词检索（BM25）</a:t>
            </a:r>
            <a:endParaRPr sz="1315" b="0">
              <a:solidFill>
                <a:srgbClr val="374151"/>
              </a:solidFill>
            </a:endParaRP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76838" y="5500407"/>
            <a:ext cx="190495" cy="16248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743531" y="5448300"/>
            <a:ext cx="84770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语义理解 + 精确匹配</a:t>
            </a:r>
            <a:endParaRPr sz="1315" b="0">
              <a:solidFill>
                <a:srgbClr val="374151"/>
              </a:solidFill>
            </a:endParaRP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76838" y="5938557"/>
            <a:ext cx="190495" cy="16248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43531" y="5886450"/>
            <a:ext cx="60958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发挥各自优势互补</a:t>
            </a:r>
            <a:endParaRPr sz="1315" b="0">
              <a:solidFill>
                <a:srgbClr val="37415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203829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LLM检索阶段优化（二）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48076" y="247649"/>
            <a:ext cx="280980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LLM Retrieval Optimization Part 2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61980" y="1485900"/>
            <a:ext cx="5791055" cy="1466849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94596" y="2153284"/>
            <a:ext cx="1466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0575" y="1676400"/>
            <a:ext cx="457188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1095347" y="1826363"/>
            <a:ext cx="247643" cy="1382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159" y="1676400"/>
            <a:ext cx="58101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</a:rPr>
              <a:t>检索结果重排序</a:t>
            </a:r>
            <a:endParaRPr sz="1435" b="1">
              <a:solidFill>
                <a:srgbClr val="133E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33642" y="1736090"/>
            <a:ext cx="81912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Reranking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159" y="2095499"/>
            <a:ext cx="476238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5" b="0">
                <a:solidFill>
                  <a:srgbClr val="374151"/>
                </a:solidFill>
              </a:rPr>
              <a:t>重排序模型对Top-K结果细粒度相关性打分</a:t>
            </a:r>
            <a:endParaRPr sz="1195" b="0">
              <a:solidFill>
                <a:srgbClr val="37415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600159" y="2457450"/>
            <a:ext cx="56196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159" y="2457450"/>
            <a:ext cx="56196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133EFF"/>
                </a:solidFill>
              </a:rPr>
              <a:t>过滤语义漂移</a:t>
            </a:r>
            <a:endParaRPr sz="955" b="0">
              <a:solidFill>
                <a:srgbClr val="133EFF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738755" y="2510155"/>
            <a:ext cx="94742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7419" y="2457450"/>
            <a:ext cx="56196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133EFF"/>
                </a:solidFill>
              </a:rPr>
              <a:t>过滤噪声片段</a:t>
            </a:r>
            <a:endParaRPr sz="955" b="0">
              <a:solidFill>
                <a:srgbClr val="133EFF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1980" y="3105149"/>
            <a:ext cx="5791055" cy="1466849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94596" y="3772533"/>
            <a:ext cx="1466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0575" y="3295650"/>
            <a:ext cx="457188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95347" y="3416816"/>
            <a:ext cx="247643" cy="1958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00159" y="3295650"/>
            <a:ext cx="58101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</a:rPr>
              <a:t>多路召回与融合</a:t>
            </a:r>
            <a:endParaRPr sz="1435" b="1">
              <a:solidFill>
                <a:srgbClr val="133E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52692" y="3383915"/>
            <a:ext cx="155253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Multi-Path Recall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00159" y="3714750"/>
            <a:ext cx="476238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5" b="0">
                <a:solidFill>
                  <a:srgbClr val="374151"/>
                </a:solidFill>
              </a:rPr>
              <a:t>增加第三方检索器，使用RRF或加权合并结果</a:t>
            </a:r>
            <a:endParaRPr sz="1195" b="0">
              <a:solidFill>
                <a:srgbClr val="37415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00159" y="4076699"/>
            <a:ext cx="876278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159" y="4076699"/>
            <a:ext cx="87627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133EFF"/>
                </a:solidFill>
              </a:rPr>
              <a:t>TF-IDF检索器</a:t>
            </a:r>
            <a:endParaRPr sz="955" b="0">
              <a:solidFill>
                <a:srgbClr val="133EFF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552636" y="4076699"/>
            <a:ext cx="1057248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52636" y="4076699"/>
            <a:ext cx="105724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133EFF"/>
                </a:solidFill>
              </a:rPr>
              <a:t>SPLADE稀疏向量</a:t>
            </a:r>
            <a:endParaRPr sz="955" b="0">
              <a:solidFill>
                <a:srgbClr val="133EFF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686082" y="4076699"/>
            <a:ext cx="76198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86082" y="4076699"/>
            <a:ext cx="76198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133EFF"/>
                </a:solidFill>
              </a:rPr>
              <a:t>RRF融合算法</a:t>
            </a:r>
            <a:endParaRPr sz="955" b="0">
              <a:solidFill>
                <a:srgbClr val="133EFF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61980" y="4724399"/>
            <a:ext cx="5791055" cy="1466849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94596" y="5391783"/>
            <a:ext cx="1466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0575" y="4914900"/>
            <a:ext cx="457188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5347" y="5036066"/>
            <a:ext cx="247643" cy="19581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600159" y="4914900"/>
            <a:ext cx="66673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</a:rPr>
              <a:t>知识图谱协同增强</a:t>
            </a:r>
            <a:endParaRPr sz="1435" b="1">
              <a:solidFill>
                <a:srgbClr val="133E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33665" y="5003165"/>
            <a:ext cx="137156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6B7280"/>
                </a:solidFill>
              </a:rPr>
              <a:t>Knowledge Graph</a:t>
            </a:r>
            <a:endParaRPr sz="955" b="0">
              <a:solidFill>
                <a:srgbClr val="6B728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0159" y="5334000"/>
            <a:ext cx="476238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5" b="0">
                <a:solidFill>
                  <a:srgbClr val="374151"/>
                </a:solidFill>
              </a:rPr>
              <a:t>解决跨文档关联推理、长尾实体、语义漂移问题</a:t>
            </a:r>
            <a:endParaRPr sz="1195" b="0">
              <a:solidFill>
                <a:srgbClr val="37415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600159" y="5695949"/>
            <a:ext cx="56196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159" y="5695949"/>
            <a:ext cx="56196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133EFF"/>
                </a:solidFill>
              </a:rPr>
              <a:t>多跳关系推理</a:t>
            </a:r>
            <a:endParaRPr sz="955" b="0">
              <a:solidFill>
                <a:srgbClr val="133EFF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238319" y="5695949"/>
            <a:ext cx="619109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3569" y="5695949"/>
            <a:ext cx="61910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133EFF"/>
                </a:solidFill>
              </a:rPr>
              <a:t>冷启动实体支持</a:t>
            </a:r>
            <a:endParaRPr sz="955" b="0">
              <a:solidFill>
                <a:srgbClr val="133EFF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300656" y="5695949"/>
            <a:ext cx="504812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00730" y="5693728"/>
            <a:ext cx="948055" cy="30924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133EFF"/>
                </a:solidFill>
              </a:rPr>
              <a:t>语义规范化</a:t>
            </a:r>
            <a:endParaRPr sz="955" b="0">
              <a:solidFill>
                <a:srgbClr val="133EFF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619809" y="1219200"/>
            <a:ext cx="4267093" cy="5238749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619809" y="5657850"/>
            <a:ext cx="4267093" cy="790574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205" y="5810249"/>
            <a:ext cx="396230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FFFFFF"/>
                </a:solidFill>
              </a:rPr>
              <a:t>Knowledge Graph Network</a:t>
            </a:r>
            <a:endParaRPr sz="1075" b="0">
              <a:solidFill>
                <a:srgbClr val="FFFF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772205" y="6076950"/>
            <a:ext cx="396230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E5E7EB"/>
                </a:solidFill>
              </a:rPr>
              <a:t>实体与关系的可视化表示</a:t>
            </a:r>
            <a:endParaRPr sz="955" b="0">
              <a:solidFill>
                <a:srgbClr val="E5E7EB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55243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持续优化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76463" y="247649"/>
            <a:ext cx="209544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Continuous Optimization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04792" y="1219200"/>
            <a:ext cx="4267093" cy="5238749"/>
          </a:xfrm>
          <a:prstGeom prst="round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4792" y="5657850"/>
            <a:ext cx="4267093" cy="790574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188" y="5810249"/>
            <a:ext cx="396230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1">
                <a:solidFill>
                  <a:srgbClr val="FFFFFF"/>
                </a:solidFill>
              </a:rPr>
              <a:t>PDCA 持续改进循环</a:t>
            </a:r>
            <a:endParaRPr sz="1075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188" y="6076950"/>
            <a:ext cx="396230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E5E7EB"/>
                </a:solidFill>
              </a:rPr>
              <a:t>计划-执行-检查-行动</a:t>
            </a:r>
            <a:endParaRPr sz="955" b="0">
              <a:solidFill>
                <a:srgbClr val="E5E7EB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38659" y="2028825"/>
            <a:ext cx="5791055" cy="2400300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133EFF">
                  <a:alpha val="3000"/>
                </a:srgbClr>
              </a:gs>
              <a:gs pos="100000">
                <a:srgbClr val="00CD82">
                  <a:alpha val="2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67253" y="2324100"/>
            <a:ext cx="533386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991075" y="2447147"/>
            <a:ext cx="285742" cy="2682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53036" y="2257425"/>
            <a:ext cx="370513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5" b="1">
                <a:solidFill>
                  <a:srgbClr val="133EFF"/>
                </a:solidFill>
              </a:rPr>
              <a:t>数据驱动的闭环优化机制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53036" y="2657475"/>
            <a:ext cx="3705132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6B7280"/>
                </a:solidFill>
              </a:rPr>
              <a:t>Data-Driven Closed-Loop Optimization</a:t>
            </a:r>
            <a:endParaRPr sz="1075" b="0">
              <a:solidFill>
                <a:srgbClr val="6B7280"/>
              </a:solidFill>
            </a:endParaRPr>
          </a:p>
        </p:txBody>
      </p:sp>
      <p:sp>
        <p:nvSpPr>
          <p:cNvPr id="14" name="Rounded Rectangle 13"/>
          <p:cNvSpPr/>
          <p:nvPr>
            <p:custDataLst>
              <p:tags r:id="rId3"/>
            </p:custDataLst>
          </p:nvPr>
        </p:nvSpPr>
        <p:spPr>
          <a:xfrm>
            <a:off x="5867253" y="3105149"/>
            <a:ext cx="1676358" cy="1095374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>
            <p:custDataLst>
              <p:tags r:id="rId4"/>
            </p:custDataLst>
          </p:nvPr>
        </p:nvSpPr>
        <p:spPr>
          <a:xfrm>
            <a:off x="6019649" y="32956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33E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105372" y="3409692"/>
            <a:ext cx="209544" cy="152914"/>
          </a:xfrm>
          <a:prstGeom prst="rect">
            <a:avLst/>
          </a:prstGeom>
        </p:spPr>
      </p:pic>
      <p:sp>
        <p:nvSpPr>
          <p:cNvPr id="17" name="TextBox 16"/>
          <p:cNvSpPr txBox="1"/>
          <p:nvPr>
            <p:custDataLst>
              <p:tags r:id="rId7"/>
            </p:custDataLst>
          </p:nvPr>
        </p:nvSpPr>
        <p:spPr>
          <a:xfrm>
            <a:off x="6514937" y="3343275"/>
            <a:ext cx="27621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1">
                <a:solidFill>
                  <a:srgbClr val="133EFF"/>
                </a:solidFill>
              </a:rPr>
              <a:t>收集数据</a:t>
            </a:r>
            <a:endParaRPr sz="1195" b="1">
              <a:solidFill>
                <a:srgbClr val="133EFF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8"/>
            </p:custDataLst>
          </p:nvPr>
        </p:nvSpPr>
        <p:spPr>
          <a:xfrm>
            <a:off x="6019649" y="3640136"/>
            <a:ext cx="1380490" cy="558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74151"/>
                </a:solidFill>
              </a:rPr>
              <a:t>用户查询日志和答案</a:t>
            </a:r>
            <a:endParaRPr sz="1075" b="0">
              <a:solidFill>
                <a:srgbClr val="374151"/>
              </a:solidFill>
            </a:endParaRP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74151"/>
                </a:solidFill>
              </a:rPr>
              <a:t>反馈</a:t>
            </a:r>
            <a:endParaRPr sz="1075" b="0">
              <a:solidFill>
                <a:srgbClr val="374151"/>
              </a:solidFill>
            </a:endParaRPr>
          </a:p>
        </p:txBody>
      </p:sp>
      <p:sp>
        <p:nvSpPr>
          <p:cNvPr id="19" name="Rounded Rectangle 18"/>
          <p:cNvSpPr/>
          <p:nvPr>
            <p:custDataLst>
              <p:tags r:id="rId9"/>
            </p:custDataLst>
          </p:nvPr>
        </p:nvSpPr>
        <p:spPr>
          <a:xfrm>
            <a:off x="7696007" y="3105149"/>
            <a:ext cx="1676358" cy="1095374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10"/>
            </p:custDataLst>
          </p:nvPr>
        </p:nvSpPr>
        <p:spPr>
          <a:xfrm>
            <a:off x="7848403" y="32956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33E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934126" y="3404029"/>
            <a:ext cx="209544" cy="164241"/>
          </a:xfrm>
          <a:prstGeom prst="rect">
            <a:avLst/>
          </a:prstGeom>
        </p:spPr>
      </p:pic>
      <p:sp>
        <p:nvSpPr>
          <p:cNvPr id="22" name="TextBox 21"/>
          <p:cNvSpPr txBox="1"/>
          <p:nvPr>
            <p:custDataLst>
              <p:tags r:id="rId13"/>
            </p:custDataLst>
          </p:nvPr>
        </p:nvSpPr>
        <p:spPr>
          <a:xfrm>
            <a:off x="8343691" y="3343275"/>
            <a:ext cx="27621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1">
                <a:solidFill>
                  <a:srgbClr val="133EFF"/>
                </a:solidFill>
              </a:rPr>
              <a:t>评估指标</a:t>
            </a:r>
            <a:endParaRPr sz="1195" b="1">
              <a:solidFill>
                <a:srgbClr val="133EFF"/>
              </a:solidFill>
            </a:endParaRP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7848600" y="3790950"/>
            <a:ext cx="1371600" cy="353060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74151"/>
                </a:solidFill>
              </a:rPr>
              <a:t>定期评估召回率和准</a:t>
            </a:r>
            <a:endParaRPr sz="1075" b="0">
              <a:solidFill>
                <a:srgbClr val="374151"/>
              </a:solidFill>
            </a:endParaRP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74151"/>
                </a:solidFill>
              </a:rPr>
              <a:t>确率</a:t>
            </a:r>
            <a:endParaRPr sz="1075" b="0">
              <a:solidFill>
                <a:srgbClr val="374151"/>
              </a:solidFill>
            </a:endParaRPr>
          </a:p>
        </p:txBody>
      </p:sp>
      <p:sp>
        <p:nvSpPr>
          <p:cNvPr id="24" name="Rounded Rectangle 23"/>
          <p:cNvSpPr/>
          <p:nvPr>
            <p:custDataLst>
              <p:tags r:id="rId15"/>
            </p:custDataLst>
          </p:nvPr>
        </p:nvSpPr>
        <p:spPr>
          <a:xfrm>
            <a:off x="9524761" y="3105149"/>
            <a:ext cx="1676358" cy="1095374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6"/>
            </p:custDataLst>
          </p:nvPr>
        </p:nvSpPr>
        <p:spPr>
          <a:xfrm>
            <a:off x="9677158" y="32956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33E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9762880" y="3404029"/>
            <a:ext cx="209544" cy="164241"/>
          </a:xfrm>
          <a:prstGeom prst="rect">
            <a:avLst/>
          </a:prstGeom>
        </p:spPr>
      </p:pic>
      <p:sp>
        <p:nvSpPr>
          <p:cNvPr id="27" name="TextBox 26"/>
          <p:cNvSpPr txBox="1"/>
          <p:nvPr>
            <p:custDataLst>
              <p:tags r:id="rId19"/>
            </p:custDataLst>
          </p:nvPr>
        </p:nvSpPr>
        <p:spPr>
          <a:xfrm>
            <a:off x="10172445" y="3343275"/>
            <a:ext cx="27621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1">
                <a:solidFill>
                  <a:srgbClr val="133EFF"/>
                </a:solidFill>
              </a:rPr>
              <a:t>动态调整</a:t>
            </a:r>
            <a:endParaRPr sz="1195" b="1">
              <a:solidFill>
                <a:srgbClr val="133EFF"/>
              </a:solidFill>
            </a:endParaRPr>
          </a:p>
        </p:txBody>
      </p:sp>
      <p:sp>
        <p:nvSpPr>
          <p:cNvPr id="28" name="TextBox 27"/>
          <p:cNvSpPr txBox="1"/>
          <p:nvPr>
            <p:custDataLst>
              <p:tags r:id="rId20"/>
            </p:custDataLst>
          </p:nvPr>
        </p:nvSpPr>
        <p:spPr>
          <a:xfrm>
            <a:off x="9677400" y="3714750"/>
            <a:ext cx="1371600" cy="4095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74151"/>
                </a:solidFill>
              </a:rPr>
              <a:t>检索参数、分块策略</a:t>
            </a:r>
            <a:endParaRPr sz="1075" b="0">
              <a:solidFill>
                <a:srgbClr val="374151"/>
              </a:solidFill>
            </a:endParaRP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374151"/>
                </a:solidFill>
              </a:rPr>
              <a:t>、提示词</a:t>
            </a:r>
            <a:endParaRPr sz="1075" b="0">
              <a:solidFill>
                <a:srgbClr val="37415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638659" y="4619625"/>
            <a:ext cx="2819329" cy="1019174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195112" y="5063172"/>
            <a:ext cx="10191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5867253" y="4899659"/>
            <a:ext cx="228594" cy="1257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210144" y="4810124"/>
            <a:ext cx="80007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133EFF"/>
                </a:solidFill>
              </a:rPr>
              <a:t>A/B 测试与调优</a:t>
            </a:r>
            <a:endParaRPr sz="1315" b="1">
              <a:solidFill>
                <a:srgbClr val="133E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10144" y="5162550"/>
            <a:ext cx="80007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持续迭代模型和知识库</a:t>
            </a:r>
            <a:endParaRPr sz="1195" b="0">
              <a:solidFill>
                <a:srgbClr val="37415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10384" y="4619625"/>
            <a:ext cx="2819329" cy="1019174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8166837" y="5063172"/>
            <a:ext cx="10191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8838979" y="4859655"/>
            <a:ext cx="228594" cy="20573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181870" y="4810124"/>
            <a:ext cx="48576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133EFF"/>
                </a:solidFill>
              </a:rPr>
              <a:t>逼近最佳配置</a:t>
            </a:r>
            <a:endParaRPr sz="1315" b="1">
              <a:solidFill>
                <a:srgbClr val="133EF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81870" y="5162550"/>
            <a:ext cx="48576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374151"/>
                </a:solidFill>
              </a:rPr>
              <a:t>保持高精度表现</a:t>
            </a:r>
            <a:endParaRPr sz="1195" b="0">
              <a:solidFill>
                <a:srgbClr val="37415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27621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0" b="1">
                <a:solidFill>
                  <a:srgbClr val="133EFF"/>
                </a:solidFill>
              </a:rPr>
              <a:t>总结</a:t>
            </a:r>
            <a:endParaRPr sz="2390" b="1">
              <a:solidFill>
                <a:srgbClr val="133E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42105" y="262889"/>
            <a:ext cx="80960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5" b="0">
                <a:solidFill>
                  <a:srgbClr val="9CA3AF"/>
                </a:solidFill>
              </a:rPr>
              <a:t>Summary</a:t>
            </a:r>
            <a:endParaRPr sz="1195" b="0">
              <a:solidFill>
                <a:srgbClr val="9CA3A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61980" y="952499"/>
            <a:ext cx="5181470" cy="2371725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357842" y="2072321"/>
            <a:ext cx="2371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04872" y="1257300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1238219" y="1429078"/>
            <a:ext cx="342891" cy="2660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04952" y="1257300"/>
            <a:ext cx="3733706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780"/>
              </a:spcAft>
            </a:pPr>
            <a:r>
              <a:rPr sz="1675" b="1">
                <a:solidFill>
                  <a:srgbClr val="133EFF"/>
                </a:solidFill>
              </a:rPr>
              <a:t>多维度指标体系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95447" y="1771650"/>
            <a:ext cx="45718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检索质量指标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95447" y="2152650"/>
            <a:ext cx="45718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生成质量指标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95447" y="2552700"/>
            <a:ext cx="68578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用户体验与系统指标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48243" y="952499"/>
            <a:ext cx="5181470" cy="2371725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5128421" y="2072321"/>
            <a:ext cx="2371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91135" y="1257300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724481" y="1440902"/>
            <a:ext cx="342891" cy="2423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91215" y="1257300"/>
            <a:ext cx="3733706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780"/>
              </a:spcAft>
            </a:pPr>
            <a:r>
              <a:rPr sz="1675" b="1">
                <a:solidFill>
                  <a:srgbClr val="133EFF"/>
                </a:solidFill>
              </a:rPr>
              <a:t>科学测试流程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81710" y="1771650"/>
            <a:ext cx="83817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离线评估与在线评估结合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81710" y="2152650"/>
            <a:ext cx="60958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全面衡量模型性能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81710" y="2552700"/>
            <a:ext cx="68578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持续集成与自动报警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61980" y="3619499"/>
            <a:ext cx="5181470" cy="2371725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357842" y="4739321"/>
            <a:ext cx="2371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04872" y="3924299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238219" y="4091644"/>
            <a:ext cx="342891" cy="27491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04952" y="3924299"/>
            <a:ext cx="3733706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780"/>
              </a:spcAft>
            </a:pPr>
            <a:r>
              <a:rPr sz="1675" b="1">
                <a:solidFill>
                  <a:srgbClr val="133EFF"/>
                </a:solidFill>
              </a:rPr>
              <a:t>自动化工具与人工评审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95447" y="4438649"/>
            <a:ext cx="45718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提高评估效率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95447" y="4838699"/>
            <a:ext cx="45718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确保评估质量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95447" y="5219700"/>
            <a:ext cx="68578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相辅相成，优势互补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48243" y="3619499"/>
            <a:ext cx="5181470" cy="2371725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128421" y="4739321"/>
            <a:ext cx="2371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91135" y="3924299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24481" y="4069474"/>
            <a:ext cx="342891" cy="31925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91215" y="3924299"/>
            <a:ext cx="3733706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780"/>
              </a:spcAft>
            </a:pPr>
            <a:r>
              <a:rPr sz="1675" b="1">
                <a:solidFill>
                  <a:srgbClr val="133EFF"/>
                </a:solidFill>
              </a:rPr>
              <a:t>持续评估优化</a:t>
            </a:r>
            <a:endParaRPr sz="1675" b="1">
              <a:solidFill>
                <a:srgbClr val="133E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81710" y="4438649"/>
            <a:ext cx="83817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数据驱动的闭环优化机制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81710" y="4838699"/>
            <a:ext cx="60958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不断逼近最佳配置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81710" y="5219700"/>
            <a:ext cx="533386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</a:rPr>
              <a:t>保持高精度表现</a:t>
            </a:r>
            <a:endParaRPr sz="1315" b="0">
              <a:solidFill>
                <a:srgbClr val="37415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61980" y="6381749"/>
            <a:ext cx="1066773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</a:rPr>
              <a:t>通过科学的评估体系和持续优化，确保RAG系统在实际应用中不断提升</a:t>
            </a:r>
            <a:endParaRPr sz="1435" b="1">
              <a:solidFill>
                <a:srgbClr val="133EFF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2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3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4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5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6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7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8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9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10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11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12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13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14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15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16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17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18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19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20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21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22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23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24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25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26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27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28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29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30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31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32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33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34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35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36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37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38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39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40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41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42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43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44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45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46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47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48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49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50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51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52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53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54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55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56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57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58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59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60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61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62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63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64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65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66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67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68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69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70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71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72.xml><?xml version="1.0" encoding="utf-8"?>
<p:tagLst xmlns:p="http://schemas.openxmlformats.org/presentationml/2006/main">
  <p:tag name="KSO_WM_DIAGRAM_VIRTUALLY_FRAME" val="{&quot;height&quot;:333.7499606299212,&quot;left&quot;:59.99842519685039,&quot;top&quot;:134.99996062992128,&quot;width&quot;:839.9789763779527}"/>
</p:tagLst>
</file>

<file path=ppt/tags/tag73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74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75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76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77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78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79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80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81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82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83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84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85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86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87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88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89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90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91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92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93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94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95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96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97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98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99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00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01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02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03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04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05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06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07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08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09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10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11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12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13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14.xml><?xml version="1.0" encoding="utf-8"?>
<p:tagLst xmlns:p="http://schemas.openxmlformats.org/presentationml/2006/main">
  <p:tag name="KSO_WM_DIAGRAM_VIRTUALLY_FRAME" val="{&quot;height&quot;:291.75007874015745,&quot;left&quot;:59.99842519685039,&quot;top&quot;:155.99992125984252,&quot;width&quot;:839.9789763779527}"/>
</p:tagLst>
</file>

<file path=ppt/tags/tag115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16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17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18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19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20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21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22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23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24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25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26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27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28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29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30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31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32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33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34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35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36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37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38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39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40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41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42.xml><?xml version="1.0" encoding="utf-8"?>
<p:tagLst xmlns:p="http://schemas.openxmlformats.org/presentationml/2006/main">
  <p:tag name="KSO_WM_DIAGRAM_VIRTUALLY_FRAME" val="{&quot;height&quot;:291.75003937007875,&quot;left&quot;:59.99842519685039,&quot;top&quot;:125.24996062992122,&quot;width&quot;:455.9885826771653}"/>
</p:tagLst>
</file>

<file path=ppt/tags/tag143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44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45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46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47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48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49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50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51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52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53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54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55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56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ags/tag157.xml><?xml version="1.0" encoding="utf-8"?>
<p:tagLst xmlns:p="http://schemas.openxmlformats.org/presentationml/2006/main">
  <p:tag name="KSO_WM_DIAGRAM_VIRTUALLY_FRAME" val="{&quot;height&quot;:86.2500787401575,&quot;left&quot;:461.9884251968504,&quot;top&quot;:244.4999212598425,&quot;width&quot;:419.989448818897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3021</Words>
  <Application>WPS 演示</Application>
  <PresentationFormat>On-screen Show (4:3)</PresentationFormat>
  <Paragraphs>505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abcuc</cp:lastModifiedBy>
  <cp:revision>8</cp:revision>
  <dcterms:created xsi:type="dcterms:W3CDTF">2013-01-27T09:14:00Z</dcterms:created>
  <dcterms:modified xsi:type="dcterms:W3CDTF">2026-05-29T10:07:00Z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937CA8F7B81B4A699B66BA5E4F9BE510_12</vt:lpwstr>
  </property>
  <property fmtid="{D5CDD505-2E9C-101B-9397-08002B2CF9AE}" pid="3" name="KSOProductBuildVer">
    <vt:lpwstr>2052-12.1.0.21915</vt:lpwstr>
  </property>
</Properties>
</file>